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blocks left to right, then down and back. Steps 1-3 are a tester simply using the application. Steps 4-6 are machine-generated. Key contrast with the recorder: this captures what is on each page rather than what the tester clicked, so one recording serves many different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rows top to bottom. The first two are the obvious time savings; the real argument is rows three and five - maintenance cost and silent false passes, which are what actually erode trust in an automation suite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per-test figure is the attention-grabber, but the suite figure is the one to dwell on. Be upfront that the 3-hour baseline is our own estimate - invite the audience to substitute their number, because the ratio holds regardless. Worth noting the saving is recurring, not one-off: the same multiple applies every time the UI changes and tests need regenerating.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hand-out version of the comparison. If the room only takes one row away, make it 'After a UI change' - selector maintenance is where hand-written suites quietly die. The 3-hour and 15-minute figures match the previous slide's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Test Generation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recorded walkthrough turns plain-English instructions into runnable Puppeteer tests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310128" cy="1572768"/>
          </a:xfrm>
          <a:prstGeom prst="roundRect">
            <a:avLst>
              <a:gd name="adj" fmla="val 2907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175564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16736" y="195681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Record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launches its own browser alongside it — no debug mode, no setup on the tester's machine.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98848" y="1572768"/>
            <a:ext cx="3310128" cy="1572768"/>
          </a:xfrm>
          <a:prstGeom prst="roundRect">
            <a:avLst>
              <a:gd name="adj" fmla="val 2907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66944" y="175564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66944" y="195681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the Journey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36592" y="2377440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tester logs in and completes a real flow, supplying the valid data a crawler could never guess.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49056" y="1572768"/>
            <a:ext cx="3310128" cy="1572768"/>
          </a:xfrm>
          <a:prstGeom prst="roundRect">
            <a:avLst>
              <a:gd name="adj" fmla="val 2907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17739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68512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7152" y="175564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17152" y="195681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Are Captured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0" y="2377440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screen change the accessibility tree is read, recording the name and type of each element.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49056" y="4224528"/>
            <a:ext cx="3310128" cy="1572768"/>
          </a:xfrm>
          <a:prstGeom prst="roundRect">
            <a:avLst>
              <a:gd name="adj" fmla="val 2907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68512" y="44256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668512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17152" y="440740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217152" y="460857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 Saved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0" y="5029200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pages are written to JSON in visit order, forming a reusable map of the application.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98848" y="4224528"/>
            <a:ext cx="3310128" cy="1572768"/>
          </a:xfrm>
          <a:prstGeom prst="roundRect">
            <a:avLst>
              <a:gd name="adj" fmla="val 2907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44256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718304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66944" y="440740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66944" y="460857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Maps the Steps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36592" y="5029200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test file is uploaded; each line is matched against the elements known to exist.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224528"/>
            <a:ext cx="3310128" cy="1572768"/>
          </a:xfrm>
          <a:prstGeom prst="roundRect">
            <a:avLst>
              <a:gd name="adj" fmla="val 2907"/>
            </a:avLst>
          </a:prstGeom>
          <a:solidFill>
            <a:srgbClr val="F4F6FB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4425696"/>
            <a:ext cx="402336" cy="40233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16736" y="440740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16736" y="460857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Puppeteer Test Written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86384" y="5029200"/>
            <a:ext cx="285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code is generated ready for the build machine. Ambiguities are flagged, not guessed.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22192" y="2203704"/>
            <a:ext cx="548640" cy="310896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0" y="2203704"/>
            <a:ext cx="548640" cy="310896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2" name="Shape 40"/>
          <p:cNvSpPr/>
          <p:nvPr/>
        </p:nvSpPr>
        <p:spPr>
          <a:xfrm rot="10800000">
            <a:off x="7772400" y="4855464"/>
            <a:ext cx="548640" cy="310896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3" name="Shape 41"/>
          <p:cNvSpPr/>
          <p:nvPr/>
        </p:nvSpPr>
        <p:spPr>
          <a:xfrm rot="10800000">
            <a:off x="3822192" y="4855464"/>
            <a:ext cx="548640" cy="310896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4" name="Shape 42"/>
          <p:cNvSpPr/>
          <p:nvPr/>
        </p:nvSpPr>
        <p:spPr>
          <a:xfrm rot="5400000">
            <a:off x="9948672" y="3401568"/>
            <a:ext cx="566928" cy="310896"/>
          </a:xfrm>
          <a:prstGeom prst="rightArrow">
            <a:avLst/>
          </a:prstGeom>
          <a:solidFill>
            <a:srgbClr val="F2A65A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is opened once per application. Every test after that is generated without one.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Code the Tests?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test, written by hand versus generated from a recorded walkthrough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9544" y="1517904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BY HAND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44384" y="151790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A WALKTHROUGH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step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971800" y="1810512"/>
            <a:ext cx="4224528" cy="658368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9544" y="181051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Hand-write a selector and an await for every single action.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06640" y="1810512"/>
            <a:ext cx="425196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 w="12700">
            <a:solidFill>
              <a:srgbClr val="C6D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44384" y="181051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 you would say to a colleague.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5694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elements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71800" y="2569464"/>
            <a:ext cx="4224528" cy="658368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2569464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through DevTools for an ID or XPath that holds 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2569464"/>
            <a:ext cx="425196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 w="12700">
            <a:solidFill>
              <a:srgbClr val="C6D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4384" y="256946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recorded page already holds every element's real name.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2841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UI changes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71800" y="3328416"/>
            <a:ext cx="4224528" cy="658368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9544" y="3328416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down each broken selector scattered across the suite.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3328416"/>
            <a:ext cx="425196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 w="12700">
            <a:solidFill>
              <a:srgbClr val="C6D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4384" y="332841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Re-record the flow once; every test using it regenerates.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087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write tests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971800" y="4087368"/>
            <a:ext cx="4224528" cy="658368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9544" y="4087368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fluent in Puppeteer and TypeScript.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06640" y="4087368"/>
            <a:ext cx="425196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 w="12700">
            <a:solidFill>
              <a:srgbClr val="C6D2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4384" y="408736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tester who can describe the journey in English.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Wrong-element bugs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2971800" y="4846320"/>
            <a:ext cx="4224528" cy="658368"/>
          </a:xfrm>
          <a:prstGeom prst="roundRect">
            <a:avLst>
              <a:gd name="adj" fmla="val 6944"/>
            </a:avLst>
          </a:prstGeom>
          <a:solidFill>
            <a:srgbClr val="F7F8FA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9544" y="4846320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selector can quietly pass against the wrong control.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06640" y="4846320"/>
            <a:ext cx="4251960" cy="658368"/>
          </a:xfrm>
          <a:prstGeom prst="roundRect">
            <a:avLst>
              <a:gd name="adj" fmla="val 6944"/>
            </a:avLst>
          </a:prstGeom>
          <a:solidFill>
            <a:srgbClr val="F4F6FB"/>
          </a:solidFill>
          <a:ln w="12700">
            <a:solidFill>
              <a:srgbClr val="C6D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484632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missing names are flagged before the test ships.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779008"/>
            <a:ext cx="11109960" cy="640080"/>
          </a:xfrm>
          <a:prstGeom prst="roundRect">
            <a:avLst>
              <a:gd name="adj" fmla="val 7143"/>
            </a:avLst>
          </a:prstGeom>
          <a:solidFill>
            <a:srgbClr val="F2A65A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7790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is not typing speed. It is the selector maintenance that never has to happen.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 Case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single test costs to produce, and what that compounds to across a suite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520440" cy="1755648"/>
          </a:xfrm>
          <a:prstGeom prst="roundRect">
            <a:avLst>
              <a:gd name="adj" fmla="val 2604"/>
            </a:avLst>
          </a:prstGeom>
          <a:solidFill>
            <a:srgbClr val="F7F8FA"/>
          </a:solidFill>
          <a:ln w="12700">
            <a:solidFill>
              <a:srgbClr val="DFE5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642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66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395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HAND-CODED, PER TEST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steps, hunting selectors, debugging until it runs clean.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536192"/>
            <a:ext cx="3520440" cy="1755648"/>
          </a:xfrm>
          <a:prstGeom prst="roundRect">
            <a:avLst>
              <a:gd name="adj" fmla="val 2604"/>
            </a:avLst>
          </a:prstGeom>
          <a:solidFill>
            <a:srgbClr val="F4F6FB"/>
          </a:solidFill>
          <a:ln w="12700">
            <a:solidFill>
              <a:srgbClr val="C6D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6642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17720" y="2395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GENERATED, PER TEST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steps in English, generate, review the output.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536192"/>
            <a:ext cx="3520440" cy="1755648"/>
          </a:xfrm>
          <a:prstGeom prst="roundRect">
            <a:avLst>
              <a:gd name="adj" fmla="val 2604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6642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A2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12480" y="2395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PRODUCE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walkthrough is recorded once and reused by every test.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5295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50-TEST SUITE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Hand-coded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3877056"/>
            <a:ext cx="7498080" cy="420624"/>
          </a:xfrm>
          <a:prstGeom prst="roundRect">
            <a:avLst>
              <a:gd name="adj" fmla="val 13043"/>
            </a:avLst>
          </a:prstGeom>
          <a:solidFill>
            <a:srgbClr val="C9D0E0"/>
          </a:solidFill>
          <a:ln/>
        </p:spPr>
      </p:sp>
      <p:sp>
        <p:nvSpPr>
          <p:cNvPr id="19" name="Text 17"/>
          <p:cNvSpPr/>
          <p:nvPr/>
        </p:nvSpPr>
        <p:spPr>
          <a:xfrm>
            <a:off x="10360152" y="387705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hours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537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97480" y="4590288"/>
            <a:ext cx="649834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511906" y="45902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hours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11109960" cy="749808"/>
          </a:xfrm>
          <a:prstGeom prst="roundRect">
            <a:avLst>
              <a:gd name="adj" fmla="val 6098"/>
            </a:avLst>
          </a:prstGeom>
          <a:solidFill>
            <a:srgbClr val="F2A65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21808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hours returned — roughly 18 working days back per 50-test suite, before a single test is re-run.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23620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3-hour baseline per hand-written test and 15 minutes per generated test, including review. Adjust to your own measured figures.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Hand-Coded vs Generated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automated test, produced two 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109960" cy="4206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11880" y="157276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26680" y="1572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A WALKTHROUGH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109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0" y="1993392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993392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writes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993392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Puppeteer and TypeScript developer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26680" y="1993392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tester who knows the journey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78024"/>
            <a:ext cx="11109960" cy="484632"/>
          </a:xfrm>
          <a:prstGeom prst="rect">
            <a:avLst/>
          </a:prstGeom>
          <a:solidFill>
            <a:srgbClr val="F7F8FA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2478024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478024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per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478024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hours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26680" y="2478024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 minutes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962656"/>
            <a:ext cx="11109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962656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962656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elements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2962656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selector hunt in DevTools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26680" y="2962656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recorded page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447288"/>
            <a:ext cx="11109960" cy="484632"/>
          </a:xfrm>
          <a:prstGeom prst="rect">
            <a:avLst/>
          </a:prstGeom>
          <a:solidFill>
            <a:srgbClr val="F7F8FA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3447288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447288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11880" y="3447288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or fixtured separately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3447288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during the walkthrough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1109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3931920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931920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 UI change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11880" y="3931920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every affected selector by hand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26680" y="3931920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Re-record once, then regenerate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416552"/>
            <a:ext cx="11109960" cy="484632"/>
          </a:xfrm>
          <a:prstGeom prst="rect">
            <a:avLst/>
          </a:prstGeom>
          <a:solidFill>
            <a:srgbClr val="F7F8FA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4416552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416552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11880" y="4416552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each author's style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726680" y="4416552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template, identical output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8640" y="4901184"/>
            <a:ext cx="11109960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4901184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4901184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Ambiguous elements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11880" y="4901184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wins, silently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26680" y="4901184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before code is written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5385816"/>
            <a:ext cx="11109960" cy="484632"/>
          </a:xfrm>
          <a:prstGeom prst="rect">
            <a:avLst/>
          </a:prstGeom>
          <a:solidFill>
            <a:srgbClr val="F7F8FA"/>
          </a:solidFill>
          <a:ln w="9525">
            <a:solidFill>
              <a:srgbClr val="DFE5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5385816"/>
            <a:ext cx="4114800" cy="484632"/>
          </a:xfrm>
          <a:prstGeom prst="rect">
            <a:avLst/>
          </a:prstGeom>
          <a:solidFill>
            <a:srgbClr val="F4F6FB"/>
          </a:solidFill>
          <a:ln w="9525">
            <a:solidFill>
              <a:srgbClr val="D6DF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5385816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needed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11880" y="5385816"/>
            <a:ext cx="3703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review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726680" y="5385816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English and the flags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6053328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two rows are a one-off saving. Every row beneath them is a cost paid again at each release.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Test Generation Workflow</dc:title>
  <dc:subject>PptxGenJS Presentation</dc:subject>
  <dc:creator>Two Lines Technology</dc:creator>
  <cp:lastModifiedBy>Two Lines Technology</cp:lastModifiedBy>
  <cp:revision>1</cp:revision>
  <dcterms:created xsi:type="dcterms:W3CDTF">2026-08-06T01:35:29Z</dcterms:created>
  <dcterms:modified xsi:type="dcterms:W3CDTF">2026-08-06T01:35:29Z</dcterms:modified>
</cp:coreProperties>
</file>