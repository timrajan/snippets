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Test Case Creator</a:t>
            </a:r>
            <a:endParaRPr lang="en-US" sz="3000" dirty="0"/>
          </a:p>
        </p:txBody>
      </p:sp>
      <p:sp>
        <p:nvSpPr>
          <p:cNvPr id="1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Spreadsheet-driven workflow — create new test cases, skip existing ones</a:t>
            </a:r>
            <a:endParaRPr lang="en-US" sz="1300" dirty="0"/>
          </a:p>
        </p:txBody>
      </p:sp>
      <p:sp>
        <p:nvSpPr>
          <p:cNvPr id="14" name="Shape 2"/>
          <p:cNvSpPr/>
          <p:nvPr/>
        </p:nvSpPr>
        <p:spPr>
          <a:xfrm>
            <a:off x="457200" y="10972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3"/>
          <p:cNvSpPr/>
          <p:nvPr/>
        </p:nvSpPr>
        <p:spPr>
          <a:xfrm>
            <a:off x="4572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400" dirty="0"/>
          </a:p>
        </p:txBody>
      </p:sp>
      <p:sp>
        <p:nvSpPr>
          <p:cNvPr id="16" name="Text 4"/>
          <p:cNvSpPr/>
          <p:nvPr/>
        </p:nvSpPr>
        <p:spPr>
          <a:xfrm>
            <a:off x="457200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with test names</a:t>
            </a:r>
            <a:endParaRPr lang="en-US" sz="1000" dirty="0"/>
          </a:p>
        </p:txBody>
      </p:sp>
      <p:sp>
        <p:nvSpPr>
          <p:cNvPr id="17" name="Shape 5"/>
          <p:cNvSpPr/>
          <p:nvPr/>
        </p:nvSpPr>
        <p:spPr>
          <a:xfrm>
            <a:off x="2542032" y="1463040"/>
            <a:ext cx="566928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6"/>
          <p:cNvSpPr/>
          <p:nvPr/>
        </p:nvSpPr>
        <p:spPr>
          <a:xfrm>
            <a:off x="3200400" y="10972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7"/>
          <p:cNvSpPr/>
          <p:nvPr/>
        </p:nvSpPr>
        <p:spPr>
          <a:xfrm>
            <a:off x="32004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script</a:t>
            </a:r>
            <a:endParaRPr lang="en-US" sz="1400" dirty="0"/>
          </a:p>
        </p:txBody>
      </p:sp>
      <p:sp>
        <p:nvSpPr>
          <p:cNvPr id="20" name="Text 8"/>
          <p:cNvSpPr/>
          <p:nvPr/>
        </p:nvSpPr>
        <p:spPr>
          <a:xfrm>
            <a:off x="320040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rows, decides per row</a:t>
            </a:r>
            <a:endParaRPr lang="en-US" sz="1000" dirty="0"/>
          </a:p>
        </p:txBody>
      </p:sp>
      <p:sp>
        <p:nvSpPr>
          <p:cNvPr id="21" name="Shape 9"/>
          <p:cNvSpPr/>
          <p:nvPr/>
        </p:nvSpPr>
        <p:spPr>
          <a:xfrm>
            <a:off x="6016752" y="1463040"/>
            <a:ext cx="566928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10"/>
          <p:cNvSpPr/>
          <p:nvPr/>
        </p:nvSpPr>
        <p:spPr>
          <a:xfrm>
            <a:off x="6675120" y="10972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11"/>
          <p:cNvSpPr/>
          <p:nvPr/>
        </p:nvSpPr>
        <p:spPr>
          <a:xfrm>
            <a:off x="667512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400" dirty="0"/>
          </a:p>
        </p:txBody>
      </p:sp>
      <p:sp>
        <p:nvSpPr>
          <p:cNvPr id="24" name="Text 12"/>
          <p:cNvSpPr/>
          <p:nvPr/>
        </p:nvSpPr>
        <p:spPr>
          <a:xfrm>
            <a:off x="6675120" y="1481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REST API</a:t>
            </a:r>
            <a:endParaRPr lang="en-US" sz="1000" dirty="0"/>
          </a:p>
        </p:txBody>
      </p:sp>
      <p:sp>
        <p:nvSpPr>
          <p:cNvPr id="25" name="Shape 13"/>
          <p:cNvSpPr/>
          <p:nvPr/>
        </p:nvSpPr>
        <p:spPr>
          <a:xfrm>
            <a:off x="457200" y="2103120"/>
            <a:ext cx="402336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Shape 14"/>
          <p:cNvSpPr/>
          <p:nvPr/>
        </p:nvSpPr>
        <p:spPr>
          <a:xfrm>
            <a:off x="457200" y="2103120"/>
            <a:ext cx="9144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15"/>
          <p:cNvSpPr/>
          <p:nvPr/>
        </p:nvSpPr>
        <p:spPr>
          <a:xfrm>
            <a:off x="713232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Test Case ID is present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713232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row — no ADO call, the existing ID is kept as-is.</a:t>
            </a:r>
            <a:endParaRPr lang="en-US" sz="1100" dirty="0"/>
          </a:p>
        </p:txBody>
      </p:sp>
      <p:sp>
        <p:nvSpPr>
          <p:cNvPr id="29" name="Shape 17"/>
          <p:cNvSpPr/>
          <p:nvPr/>
        </p:nvSpPr>
        <p:spPr>
          <a:xfrm>
            <a:off x="4663440" y="2103120"/>
            <a:ext cx="4023360" cy="8686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Shape 18"/>
          <p:cNvSpPr/>
          <p:nvPr/>
        </p:nvSpPr>
        <p:spPr>
          <a:xfrm>
            <a:off x="4663440" y="2103120"/>
            <a:ext cx="91440" cy="868680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4919472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Test Case ID is empty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4919472" y="24871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test case in ADO, then write the new ID back to the row.</a:t>
            </a:r>
            <a:endParaRPr lang="en-US" sz="1100" dirty="0"/>
          </a:p>
        </p:txBody>
      </p:sp>
      <p:sp>
        <p:nvSpPr>
          <p:cNvPr id="33" name="Text 21"/>
          <p:cNvSpPr/>
          <p:nvPr/>
        </p:nvSpPr>
        <p:spPr>
          <a:xfrm>
            <a:off x="45720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210312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valid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— already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with invalid credentials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TC-1042   (new)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in 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 from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— already exists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reset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TC-1043   (new)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in 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&amp; Result Publishing</a:t>
            </a:r>
            <a:endParaRPr lang="en-US" sz="3000" dirty="0"/>
          </a:p>
        </p:txBody>
      </p:sp>
      <p:sp>
        <p:nvSpPr>
          <p:cNvPr id="1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spreadsheet — each ADO test self-selects its row by matching ADO ID</a:t>
            </a:r>
            <a:endParaRPr lang="en-US" sz="1300" dirty="0"/>
          </a:p>
        </p:txBody>
      </p:sp>
      <p:sp>
        <p:nvSpPr>
          <p:cNvPr id="14" name="Shape 2"/>
          <p:cNvSpPr/>
          <p:nvPr/>
        </p:nvSpPr>
        <p:spPr>
          <a:xfrm>
            <a:off x="457200" y="1280160"/>
            <a:ext cx="1554480" cy="29260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3"/>
          <p:cNvSpPr/>
          <p:nvPr/>
        </p:nvSpPr>
        <p:spPr>
          <a:xfrm>
            <a:off x="45720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300" dirty="0"/>
          </a:p>
        </p:txBody>
      </p:sp>
      <p:sp>
        <p:nvSpPr>
          <p:cNvPr id="16" name="Text 4"/>
          <p:cNvSpPr/>
          <p:nvPr/>
        </p:nvSpPr>
        <p:spPr>
          <a:xfrm>
            <a:off x="548640" y="1737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triggers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test case</a:t>
            </a:r>
            <a:endParaRPr lang="en-US" sz="1000" dirty="0"/>
          </a:p>
        </p:txBody>
      </p:sp>
      <p:sp>
        <p:nvSpPr>
          <p:cNvPr id="17" name="Shape 5"/>
          <p:cNvSpPr/>
          <p:nvPr/>
        </p:nvSpPr>
        <p:spPr>
          <a:xfrm>
            <a:off x="594360" y="2423160"/>
            <a:ext cx="128016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6"/>
          <p:cNvSpPr/>
          <p:nvPr/>
        </p:nvSpPr>
        <p:spPr>
          <a:xfrm>
            <a:off x="59436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Test Case ID</a:t>
            </a:r>
            <a:endParaRPr lang="en-US" sz="9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TC-1042</a:t>
            </a:r>
            <a:endParaRPr lang="en-US" sz="900" dirty="0"/>
          </a:p>
        </p:txBody>
      </p:sp>
      <p:sp>
        <p:nvSpPr>
          <p:cNvPr id="19" name="Text 7"/>
          <p:cNvSpPr/>
          <p:nvPr/>
        </p:nvSpPr>
        <p:spPr>
          <a:xfrm>
            <a:off x="54864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receives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 / fail result</a:t>
            </a:r>
            <a:endParaRPr lang="en-US" sz="1000" dirty="0"/>
          </a:p>
        </p:txBody>
      </p:sp>
      <p:sp>
        <p:nvSpPr>
          <p:cNvPr id="20" name="Shape 8"/>
          <p:cNvSpPr/>
          <p:nvPr/>
        </p:nvSpPr>
        <p:spPr>
          <a:xfrm>
            <a:off x="2834640" y="128016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283464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 test  (TypeScript)</a:t>
            </a:r>
            <a:endParaRPr lang="en-US" sz="1300" dirty="0"/>
          </a:p>
        </p:txBody>
      </p:sp>
      <p:sp>
        <p:nvSpPr>
          <p:cNvPr id="22" name="Text 10"/>
          <p:cNvSpPr/>
          <p:nvPr/>
        </p:nvSpPr>
        <p:spPr>
          <a:xfrm>
            <a:off x="3154680" y="1737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test:</a:t>
            </a:r>
            <a:endParaRPr lang="en-US" sz="1000" dirty="0"/>
          </a:p>
        </p:txBody>
      </p:sp>
      <p:sp>
        <p:nvSpPr>
          <p:cNvPr id="23" name="Shape 11"/>
          <p:cNvSpPr/>
          <p:nvPr/>
        </p:nvSpPr>
        <p:spPr>
          <a:xfrm>
            <a:off x="3154680" y="210312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2"/>
          <p:cNvSpPr/>
          <p:nvPr/>
        </p:nvSpPr>
        <p:spPr>
          <a:xfrm>
            <a:off x="315468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13"/>
          <p:cNvSpPr/>
          <p:nvPr/>
        </p:nvSpPr>
        <p:spPr>
          <a:xfrm>
            <a:off x="3493008" y="2057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spreadsheet</a:t>
            </a:r>
            <a:endParaRPr lang="en-US" sz="1050" dirty="0"/>
          </a:p>
        </p:txBody>
      </p:sp>
      <p:sp>
        <p:nvSpPr>
          <p:cNvPr id="26" name="Shape 14"/>
          <p:cNvSpPr/>
          <p:nvPr/>
        </p:nvSpPr>
        <p:spPr>
          <a:xfrm>
            <a:off x="3154680" y="260604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15"/>
          <p:cNvSpPr/>
          <p:nvPr/>
        </p:nvSpPr>
        <p:spPr>
          <a:xfrm>
            <a:off x="315468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16"/>
          <p:cNvSpPr/>
          <p:nvPr/>
        </p:nvSpPr>
        <p:spPr>
          <a:xfrm>
            <a:off x="3493008" y="2560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rows; find one where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‘ADO ID’ column = TC-1042</a:t>
            </a:r>
            <a:endParaRPr lang="en-US" sz="1050" dirty="0"/>
          </a:p>
        </p:txBody>
      </p:sp>
      <p:sp>
        <p:nvSpPr>
          <p:cNvPr id="29" name="Shape 17"/>
          <p:cNvSpPr/>
          <p:nvPr/>
        </p:nvSpPr>
        <p:spPr>
          <a:xfrm>
            <a:off x="3154680" y="310896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18"/>
          <p:cNvSpPr/>
          <p:nvPr/>
        </p:nvSpPr>
        <p:spPr>
          <a:xfrm>
            <a:off x="315468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19"/>
          <p:cNvSpPr/>
          <p:nvPr/>
        </p:nvSpPr>
        <p:spPr>
          <a:xfrm>
            <a:off x="3493008" y="3063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that row’s Puppeteer steps</a:t>
            </a:r>
            <a:endParaRPr lang="en-US" sz="1050" dirty="0"/>
          </a:p>
        </p:txBody>
      </p:sp>
      <p:sp>
        <p:nvSpPr>
          <p:cNvPr id="32" name="Shape 20"/>
          <p:cNvSpPr/>
          <p:nvPr/>
        </p:nvSpPr>
        <p:spPr>
          <a:xfrm>
            <a:off x="3154680" y="3611880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315468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22"/>
          <p:cNvSpPr/>
          <p:nvPr/>
        </p:nvSpPr>
        <p:spPr>
          <a:xfrm>
            <a:off x="3493008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and report pass / fail</a:t>
            </a:r>
            <a:endParaRPr lang="en-US" sz="1050" dirty="0"/>
          </a:p>
        </p:txBody>
      </p:sp>
      <p:sp>
        <p:nvSpPr>
          <p:cNvPr id="35" name="Shape 23"/>
          <p:cNvSpPr/>
          <p:nvPr/>
        </p:nvSpPr>
        <p:spPr>
          <a:xfrm>
            <a:off x="6675120" y="1280160"/>
            <a:ext cx="2011680" cy="29260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667512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300" dirty="0"/>
          </a:p>
        </p:txBody>
      </p:sp>
      <p:sp>
        <p:nvSpPr>
          <p:cNvPr id="37" name="Shape 25"/>
          <p:cNvSpPr/>
          <p:nvPr/>
        </p:nvSpPr>
        <p:spPr>
          <a:xfrm>
            <a:off x="6812280" y="1783080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26"/>
          <p:cNvSpPr/>
          <p:nvPr/>
        </p:nvSpPr>
        <p:spPr>
          <a:xfrm>
            <a:off x="6931152" y="1783080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ID</a:t>
            </a:r>
            <a:endParaRPr lang="en-US" sz="1000" dirty="0"/>
          </a:p>
        </p:txBody>
      </p:sp>
      <p:sp>
        <p:nvSpPr>
          <p:cNvPr id="39" name="Text 27"/>
          <p:cNvSpPr/>
          <p:nvPr/>
        </p:nvSpPr>
        <p:spPr>
          <a:xfrm>
            <a:off x="7863840" y="1783080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6812280" y="2112264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29"/>
          <p:cNvSpPr/>
          <p:nvPr/>
        </p:nvSpPr>
        <p:spPr>
          <a:xfrm>
            <a:off x="6931152" y="2112264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TC-1041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7863840" y="2112264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6812280" y="2441448"/>
            <a:ext cx="1737360" cy="329184"/>
          </a:xfrm>
          <a:prstGeom prst="rect">
            <a:avLst/>
          </a:prstGeom>
          <a:solidFill>
            <a:srgbClr val="D1FAE5"/>
          </a:solidFill>
          <a:ln w="19050">
            <a:solidFill>
              <a:srgbClr val="0E7C66"/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6812280" y="2441448"/>
            <a:ext cx="64008" cy="329184"/>
          </a:xfrm>
          <a:prstGeom prst="rect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6931152" y="2441448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TC-1042</a:t>
            </a:r>
            <a:endParaRPr lang="en-US" sz="1000" dirty="0"/>
          </a:p>
        </p:txBody>
      </p:sp>
      <p:sp>
        <p:nvSpPr>
          <p:cNvPr id="46" name="Text 34"/>
          <p:cNvSpPr/>
          <p:nvPr/>
        </p:nvSpPr>
        <p:spPr>
          <a:xfrm>
            <a:off x="7863840" y="2441448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00" dirty="0"/>
          </a:p>
        </p:txBody>
      </p:sp>
      <p:sp>
        <p:nvSpPr>
          <p:cNvPr id="47" name="Shape 35"/>
          <p:cNvSpPr/>
          <p:nvPr/>
        </p:nvSpPr>
        <p:spPr>
          <a:xfrm>
            <a:off x="6812280" y="2770632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36"/>
          <p:cNvSpPr/>
          <p:nvPr/>
        </p:nvSpPr>
        <p:spPr>
          <a:xfrm>
            <a:off x="6931152" y="2770632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TC-1043</a:t>
            </a:r>
            <a:endParaRPr lang="en-US" sz="1000" dirty="0"/>
          </a:p>
        </p:txBody>
      </p:sp>
      <p:sp>
        <p:nvSpPr>
          <p:cNvPr id="49" name="Text 37"/>
          <p:cNvSpPr/>
          <p:nvPr/>
        </p:nvSpPr>
        <p:spPr>
          <a:xfrm>
            <a:off x="7863840" y="2770632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6812280" y="3099816"/>
            <a:ext cx="1737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6931152" y="3099816"/>
            <a:ext cx="960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TC-1044</a:t>
            </a:r>
            <a:endParaRPr lang="en-US" sz="1000" dirty="0"/>
          </a:p>
        </p:txBody>
      </p:sp>
      <p:sp>
        <p:nvSpPr>
          <p:cNvPr id="52" name="Text 40"/>
          <p:cNvSpPr/>
          <p:nvPr/>
        </p:nvSpPr>
        <p:spPr>
          <a:xfrm>
            <a:off x="7863840" y="3099816"/>
            <a:ext cx="548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667512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where ADO ID = TC-1042  →  match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2011680" y="1874520"/>
            <a:ext cx="822960" cy="0"/>
          </a:xfrm>
          <a:prstGeom prst="line">
            <a:avLst/>
          </a:prstGeom>
          <a:noFill/>
          <a:ln w="317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55" name="Text 43"/>
          <p:cNvSpPr/>
          <p:nvPr/>
        </p:nvSpPr>
        <p:spPr>
          <a:xfrm>
            <a:off x="201168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Trigger</a:t>
            </a:r>
            <a:endParaRPr lang="en-US" sz="1000" dirty="0"/>
          </a:p>
        </p:txBody>
      </p:sp>
      <p:sp>
        <p:nvSpPr>
          <p:cNvPr id="56" name="Shape 44"/>
          <p:cNvSpPr/>
          <p:nvPr/>
        </p:nvSpPr>
        <p:spPr>
          <a:xfrm>
            <a:off x="5760720" y="1874520"/>
            <a:ext cx="914400" cy="0"/>
          </a:xfrm>
          <a:prstGeom prst="line">
            <a:avLst/>
          </a:prstGeom>
          <a:noFill/>
          <a:ln w="3175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57" name="Text 45"/>
          <p:cNvSpPr/>
          <p:nvPr/>
        </p:nvSpPr>
        <p:spPr>
          <a:xfrm>
            <a:off x="5760720" y="1600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Read &amp; match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2011680" y="3840480"/>
            <a:ext cx="822960" cy="0"/>
          </a:xfrm>
          <a:prstGeom prst="line">
            <a:avLst/>
          </a:prstGeom>
          <a:noFill/>
          <a:ln w="31750">
            <a:solidFill>
              <a:srgbClr val="0E7C66"/>
            </a:solidFill>
            <a:prstDash val="solid"/>
            <a:headEnd type="triangle"/>
          </a:ln>
        </p:spPr>
      </p:sp>
      <p:sp>
        <p:nvSpPr>
          <p:cNvPr id="59" name="Text 47"/>
          <p:cNvSpPr/>
          <p:nvPr/>
        </p:nvSpPr>
        <p:spPr>
          <a:xfrm>
            <a:off x="2011680" y="3904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Publish pass / fail</a:t>
            </a:r>
            <a:endParaRPr lang="en-US" sz="1000" dirty="0"/>
          </a:p>
        </p:txBody>
      </p:sp>
      <p:sp>
        <p:nvSpPr>
          <p:cNvPr id="60" name="Text 48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one shared spreadsheet for all test cases — each ADO test stays a thin wrapper that locates its own row.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 Test Case Creator</dc:title>
  <dc:subject>PptxGenJS Presentation</dc:subject>
  <dc:creator>Two Lines Technology</dc:creator>
  <cp:lastModifiedBy>Two Lines Technology</cp:lastModifiedBy>
  <cp:revision>1</cp:revision>
  <dcterms:created xsi:type="dcterms:W3CDTF">2026-05-19T02:14:07Z</dcterms:created>
  <dcterms:modified xsi:type="dcterms:W3CDTF">2026-05-19T02:14:07Z</dcterms:modified>
</cp:coreProperties>
</file>