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79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001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Data-Driven Testing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383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355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0725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790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55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90725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790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3355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90725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790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355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0725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790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479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0" descr="/tmp/rasterized-gradient-3c90fc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598390"/>
            <a:ext cx="533400" cy="533400"/>
          </a:xfrm>
          <a:prstGeom prst="rect">
            <a:avLst/>
          </a:prstGeom>
          <a:effectLst>
            <a:outerShdw blurRad="114300" dist="38100" dir="5400000" algn="bl" rotWithShape="0">
              <a:srgbClr val="14B8A6">
                <a:alpha val="3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3165574" y="2691705"/>
            <a:ext cx="22649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36766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624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262677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386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3385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2291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386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3117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84799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386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117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84799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86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117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84799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720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2578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34000" y="259839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84453" y="2627858"/>
            <a:ext cx="5237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525" dirty="0"/>
          </a:p>
        </p:txBody>
      </p:sp>
      <p:sp>
        <p:nvSpPr>
          <p:cNvPr id="38" name="Text 35"/>
          <p:cNvSpPr/>
          <p:nvPr/>
        </p:nvSpPr>
        <p:spPr>
          <a:xfrm>
            <a:off x="5524500" y="2621310"/>
            <a:ext cx="315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334000" y="27793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57664" y="2786955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5457825" y="278025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TC-001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5334000" y="290319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357664" y="2910780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5457825" y="2904083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TC-002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5334000" y="302701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457825" y="302790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TC-003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62674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48" name="Image 1" descr="/tmp/rasterized-gradient-a34076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522190"/>
            <a:ext cx="952500" cy="6858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49" name="Text 45"/>
          <p:cNvSpPr/>
          <p:nvPr/>
        </p:nvSpPr>
        <p:spPr>
          <a:xfrm>
            <a:off x="6629400" y="2598390"/>
            <a:ext cx="121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776889" y="2605088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66294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6450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6450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375" dirty="0"/>
          </a:p>
        </p:txBody>
      </p:sp>
      <p:sp>
        <p:nvSpPr>
          <p:cNvPr id="54" name="Text 50"/>
          <p:cNvSpPr/>
          <p:nvPr/>
        </p:nvSpPr>
        <p:spPr>
          <a:xfrm>
            <a:off x="70485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70641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0641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375" dirty="0"/>
          </a:p>
        </p:txBody>
      </p:sp>
      <p:sp>
        <p:nvSpPr>
          <p:cNvPr id="57" name="Text 53"/>
          <p:cNvSpPr/>
          <p:nvPr/>
        </p:nvSpPr>
        <p:spPr>
          <a:xfrm>
            <a:off x="6629400" y="3055590"/>
            <a:ext cx="8001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2" descr="/tmp/rasterized-gradient-0ce1e8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55590"/>
            <a:ext cx="679996" cy="381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16287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825" dirty="0"/>
          </a:p>
        </p:txBody>
      </p:sp>
      <p:sp>
        <p:nvSpPr>
          <p:cNvPr id="60" name="Text 55"/>
          <p:cNvSpPr/>
          <p:nvPr/>
        </p:nvSpPr>
        <p:spPr>
          <a:xfrm>
            <a:off x="16287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Excel/CSV</a:t>
            </a:r>
            <a:endParaRPr lang="en-US" sz="675" dirty="0"/>
          </a:p>
        </p:txBody>
      </p:sp>
      <p:sp>
        <p:nvSpPr>
          <p:cNvPr id="61" name="Text 56"/>
          <p:cNvSpPr/>
          <p:nvPr/>
        </p:nvSpPr>
        <p:spPr>
          <a:xfrm>
            <a:off x="2926842" y="3474690"/>
            <a:ext cx="699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825" dirty="0"/>
          </a:p>
        </p:txBody>
      </p:sp>
      <p:sp>
        <p:nvSpPr>
          <p:cNvPr id="62" name="Text 57"/>
          <p:cNvSpPr/>
          <p:nvPr/>
        </p:nvSpPr>
        <p:spPr>
          <a:xfrm>
            <a:off x="2926842" y="3640336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675" dirty="0"/>
          </a:p>
        </p:txBody>
      </p:sp>
      <p:sp>
        <p:nvSpPr>
          <p:cNvPr id="63" name="Text 58"/>
          <p:cNvSpPr/>
          <p:nvPr/>
        </p:nvSpPr>
        <p:spPr>
          <a:xfrm>
            <a:off x="39528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Table</a:t>
            </a:r>
            <a:endParaRPr lang="en-US" sz="825" dirty="0"/>
          </a:p>
        </p:txBody>
      </p:sp>
      <p:sp>
        <p:nvSpPr>
          <p:cNvPr id="64" name="Text 59"/>
          <p:cNvSpPr/>
          <p:nvPr/>
        </p:nvSpPr>
        <p:spPr>
          <a:xfrm>
            <a:off x="39528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Accessible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52482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</a:t>
            </a:r>
            <a:endParaRPr lang="en-US" sz="825" dirty="0"/>
          </a:p>
        </p:txBody>
      </p:sp>
      <p:sp>
        <p:nvSpPr>
          <p:cNvPr id="66" name="Text 61"/>
          <p:cNvSpPr/>
          <p:nvPr/>
        </p:nvSpPr>
        <p:spPr>
          <a:xfrm>
            <a:off x="52482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</a:t>
            </a:r>
            <a:endParaRPr lang="en-US" sz="675" dirty="0"/>
          </a:p>
        </p:txBody>
      </p:sp>
      <p:sp>
        <p:nvSpPr>
          <p:cNvPr id="67" name="Text 62"/>
          <p:cNvSpPr/>
          <p:nvPr/>
        </p:nvSpPr>
        <p:spPr>
          <a:xfrm>
            <a:off x="65436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Report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65436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675" dirty="0"/>
          </a:p>
        </p:txBody>
      </p:sp>
      <p:sp>
        <p:nvSpPr>
          <p:cNvPr id="69" name="Text 64"/>
          <p:cNvSpPr/>
          <p:nvPr/>
        </p:nvSpPr>
        <p:spPr>
          <a:xfrm>
            <a:off x="285750" y="4762500"/>
            <a:ext cx="1872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Data Management Pipeline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43363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76488"/>
            <a:ext cx="31204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source is the Excel sheet data.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91941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2862263"/>
            <a:ext cx="52585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same Excel sheet which we use for executing test cases.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40518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3348038"/>
            <a:ext cx="5871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sheet or the Excel sheets will be sent to the translator programme.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38125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2410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Translator programme reads the data in the Excel sheet (all the rows and the columns) and creates a replica of that same data in a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 web table through which you can view the data that is in the database. The web table acts as a UI or a mirror of the data in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6384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581275"/>
            <a:ext cx="704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need to add a module in our automation framework to read the data from the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53754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formulas are directly copied from the Excel sheet to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DataSourceBox"/>
          <p:cNvSpPr/>
          <p:nvPr/>
        </p:nvSpPr>
        <p:spPr>
          <a:xfrm>
            <a:off x="571500" y="2000250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IconBar1"/>
          <p:cNvSpPr/>
          <p:nvPr/>
        </p:nvSpPr>
        <p:spPr>
          <a:xfrm>
            <a:off x="1085850" y="22288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IconBar2"/>
          <p:cNvSpPr/>
          <p:nvPr/>
        </p:nvSpPr>
        <p:spPr>
          <a:xfrm>
            <a:off x="1085850" y="23431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IconBar3"/>
          <p:cNvSpPr/>
          <p:nvPr/>
        </p:nvSpPr>
        <p:spPr>
          <a:xfrm>
            <a:off x="1085850" y="24574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ataSourceLabel"/>
          <p:cNvSpPr/>
          <p:nvPr/>
        </p:nvSpPr>
        <p:spPr>
          <a:xfrm>
            <a:off x="571500" y="2686050"/>
            <a:ext cx="1600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CSV/Excel</a:t>
            </a:r>
            <a:endParaRPr lang="en-US" sz="1000" dirty="0"/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8" name="MainLine"/>
          <p:cNvSpPr/>
          <p:nvPr/>
        </p:nvSpPr>
        <p:spPr>
          <a:xfrm>
            <a:off x="2171700" y="25717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Branch1"/>
          <p:cNvSpPr/>
          <p:nvPr/>
        </p:nvSpPr>
        <p:spPr>
          <a:xfrm>
            <a:off x="3086100" y="14859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Branch2"/>
          <p:cNvSpPr/>
          <p:nvPr/>
        </p:nvSpPr>
        <p:spPr>
          <a:xfrm>
            <a:off x="3086100" y="21145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7" name="Branch3"/>
          <p:cNvSpPr/>
          <p:nvPr/>
        </p:nvSpPr>
        <p:spPr>
          <a:xfrm>
            <a:off x="3086100" y="27432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8" name="Branch4"/>
          <p:cNvSpPr/>
          <p:nvPr/>
        </p:nvSpPr>
        <p:spPr>
          <a:xfrm>
            <a:off x="3086100" y="33718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TestCaseBox"/>
          <p:cNvSpPr/>
          <p:nvPr/>
        </p:nvSpPr>
        <p:spPr>
          <a:xfrm>
            <a:off x="43434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13" name="SheetABox"/>
          <p:cNvSpPr/>
          <p:nvPr/>
        </p:nvSpPr>
        <p:spPr>
          <a:xfrm>
            <a:off x="43434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14" name="SheetBBox"/>
          <p:cNvSpPr/>
          <p:nvPr/>
        </p:nvSpPr>
        <p:spPr>
          <a:xfrm>
            <a:off x="43434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15" name="SheetCBox"/>
          <p:cNvSpPr/>
          <p:nvPr/>
        </p:nvSpPr>
        <p:spPr>
          <a:xfrm>
            <a:off x="43434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16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TestCaseABox"/>
          <p:cNvSpPr/>
          <p:nvPr/>
        </p:nvSpPr>
        <p:spPr>
          <a:xfrm>
            <a:off x="5715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 A</a:t>
            </a:r>
            <a:endParaRPr lang="en-US" sz="1200" dirty="0"/>
          </a:p>
        </p:txBody>
      </p:sp>
      <p:sp>
        <p:nvSpPr>
          <p:cNvPr id="4" name="SheetABox"/>
          <p:cNvSpPr/>
          <p:nvPr/>
        </p:nvSpPr>
        <p:spPr>
          <a:xfrm>
            <a:off x="5715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5" name="SheetBBox"/>
          <p:cNvSpPr/>
          <p:nvPr/>
        </p:nvSpPr>
        <p:spPr>
          <a:xfrm>
            <a:off x="5715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6" name="SheetCBox"/>
          <p:cNvSpPr/>
          <p:nvPr/>
        </p:nvSpPr>
        <p:spPr>
          <a:xfrm>
            <a:off x="5715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7" name="Line1"/>
          <p:cNvSpPr/>
          <p:nvPr/>
        </p:nvSpPr>
        <p:spPr>
          <a:xfrm>
            <a:off x="2171700" y="14859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8" name="Line2"/>
          <p:cNvSpPr/>
          <p:nvPr/>
        </p:nvSpPr>
        <p:spPr>
          <a:xfrm>
            <a:off x="2171700" y="21145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Line3"/>
          <p:cNvSpPr/>
          <p:nvPr/>
        </p:nvSpPr>
        <p:spPr>
          <a:xfrm>
            <a:off x="2171700" y="27432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Line4"/>
          <p:cNvSpPr/>
          <p:nvPr/>
        </p:nvSpPr>
        <p:spPr>
          <a:xfrm>
            <a:off x="2171700" y="33718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ArrowToBlock"/>
          <p:cNvSpPr/>
          <p:nvPr/>
        </p:nvSpPr>
        <p:spPr>
          <a:xfrm>
            <a:off x="3086100" y="2428875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" name="DestinationBlock"/>
          <p:cNvSpPr/>
          <p:nvPr/>
        </p:nvSpPr>
        <p:spPr>
          <a:xfrm>
            <a:off x="4343400" y="1857375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Change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4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Block1"/>
          <p:cNvSpPr/>
          <p:nvPr/>
        </p:nvSpPr>
        <p:spPr>
          <a:xfrm>
            <a:off x="2857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0" name="Block1Bar1"/>
          <p:cNvSpPr/>
          <p:nvPr/>
        </p:nvSpPr>
        <p:spPr>
          <a:xfrm>
            <a:off x="571500" y="1771650"/>
            <a:ext cx="8001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1" name="Block1Bar2"/>
          <p:cNvSpPr/>
          <p:nvPr/>
        </p:nvSpPr>
        <p:spPr>
          <a:xfrm>
            <a:off x="571500" y="1885950"/>
            <a:ext cx="600075" cy="762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2" name="Block1Bar3"/>
          <p:cNvSpPr/>
          <p:nvPr/>
        </p:nvSpPr>
        <p:spPr>
          <a:xfrm>
            <a:off x="571500" y="2000250"/>
            <a:ext cx="457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3" name="Block1Label"/>
          <p:cNvSpPr/>
          <p:nvPr/>
        </p:nvSpPr>
        <p:spPr>
          <a:xfrm>
            <a:off x="2857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Step Change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Sequence</a:t>
            </a:r>
          </a:p>
        </p:txBody>
      </p:sp>
      <p:sp>
        <p:nvSpPr>
          <p:cNvPr id="4" name="Arrow1"/>
          <p:cNvSpPr/>
          <p:nvPr/>
        </p:nvSpPr>
        <p:spPr>
          <a:xfrm>
            <a:off x="16573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5" name="Block2"/>
          <p:cNvSpPr/>
          <p:nvPr/>
        </p:nvSpPr>
        <p:spPr>
          <a:xfrm>
            <a:off x="20383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0" name="Block2Circle1"/>
          <p:cNvSpPr/>
          <p:nvPr/>
        </p:nvSpPr>
        <p:spPr>
          <a:xfrm>
            <a:off x="2247900" y="1771650"/>
            <a:ext cx="152400" cy="1524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1" name="Block2Circle2"/>
          <p:cNvSpPr/>
          <p:nvPr/>
        </p:nvSpPr>
        <p:spPr>
          <a:xfrm>
            <a:off x="2476500" y="1885950"/>
            <a:ext cx="152400" cy="152400"/>
          </a:xfrm>
          <a:prstGeom prst="ellipse">
            <a:avLst/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2" name="Block2Circle3"/>
          <p:cNvSpPr/>
          <p:nvPr/>
        </p:nvSpPr>
        <p:spPr>
          <a:xfrm>
            <a:off x="2705100" y="1771650"/>
            <a:ext cx="152400" cy="152400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3" name="Block2Line1"/>
          <p:cNvSpPr/>
          <p:nvPr/>
        </p:nvSpPr>
        <p:spPr>
          <a:xfrm>
            <a:off x="2400300" y="1847850"/>
            <a:ext cx="152400" cy="114300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4" name="Block2Line2"/>
          <p:cNvSpPr/>
          <p:nvPr/>
        </p:nvSpPr>
        <p:spPr>
          <a:xfrm flipV="1">
            <a:off x="2628900" y="1847850"/>
            <a:ext cx="152400" cy="114300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5" name="Block2Label"/>
          <p:cNvSpPr/>
          <p:nvPr/>
        </p:nvSpPr>
        <p:spPr>
          <a:xfrm>
            <a:off x="20383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Puppeteer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Middleware</a:t>
            </a:r>
          </a:p>
        </p:txBody>
      </p:sp>
      <p:sp>
        <p:nvSpPr>
          <p:cNvPr id="6" name="Arrow2"/>
          <p:cNvSpPr/>
          <p:nvPr/>
        </p:nvSpPr>
        <p:spPr>
          <a:xfrm>
            <a:off x="34099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" name="Block3"/>
          <p:cNvSpPr/>
          <p:nvPr/>
        </p:nvSpPr>
        <p:spPr>
          <a:xfrm>
            <a:off x="37909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0" name="Block3Bracket1"/>
          <p:cNvSpPr/>
          <p:nvPr/>
        </p:nvSpPr>
        <p:spPr>
          <a:xfrm>
            <a:off x="4114800" y="1733550"/>
            <a:ext cx="76200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1" name="Block3Bar1"/>
          <p:cNvSpPr/>
          <p:nvPr/>
        </p:nvSpPr>
        <p:spPr>
          <a:xfrm>
            <a:off x="4267200" y="1771650"/>
            <a:ext cx="419100" cy="5715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2" name="Block3Bar2"/>
          <p:cNvSpPr/>
          <p:nvPr/>
        </p:nvSpPr>
        <p:spPr>
          <a:xfrm>
            <a:off x="4267200" y="1866900"/>
            <a:ext cx="533400" cy="5715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3" name="Block3Bar3"/>
          <p:cNvSpPr/>
          <p:nvPr/>
        </p:nvSpPr>
        <p:spPr>
          <a:xfrm>
            <a:off x="4267200" y="1962150"/>
            <a:ext cx="342900" cy="5715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4" name="Block3Label"/>
          <p:cNvSpPr/>
          <p:nvPr/>
        </p:nvSpPr>
        <p:spPr>
          <a:xfrm>
            <a:off x="37909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Puppeteer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Framework</a:t>
            </a:r>
          </a:p>
        </p:txBody>
      </p:sp>
      <p:sp>
        <p:nvSpPr>
          <p:cNvPr id="8" name="Arrow3"/>
          <p:cNvSpPr/>
          <p:nvPr/>
        </p:nvSpPr>
        <p:spPr>
          <a:xfrm>
            <a:off x="51625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Block4"/>
          <p:cNvSpPr/>
          <p:nvPr/>
        </p:nvSpPr>
        <p:spPr>
          <a:xfrm>
            <a:off x="55435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0" name="Block4Circle"/>
          <p:cNvSpPr/>
          <p:nvPr/>
        </p:nvSpPr>
        <p:spPr>
          <a:xfrm>
            <a:off x="5981700" y="1733550"/>
            <a:ext cx="304800" cy="3048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Segoe UI" pitchFamily="34" charset="0"/>
              </a:rPr>
              <a:t>►</a:t>
            </a:r>
          </a:p>
        </p:txBody>
      </p:sp>
      <p:sp>
        <p:nvSpPr>
          <p:cNvPr id="131" name="Block4Label"/>
          <p:cNvSpPr/>
          <p:nvPr/>
        </p:nvSpPr>
        <p:spPr>
          <a:xfrm>
            <a:off x="55435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Test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Execution</a:t>
            </a:r>
          </a:p>
        </p:txBody>
      </p:sp>
      <p:sp>
        <p:nvSpPr>
          <p:cNvPr id="10" name="Block5"/>
          <p:cNvSpPr/>
          <p:nvPr/>
        </p:nvSpPr>
        <p:spPr>
          <a:xfrm>
            <a:off x="72961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0" name="Block5Bar1"/>
          <p:cNvSpPr/>
          <p:nvPr/>
        </p:nvSpPr>
        <p:spPr>
          <a:xfrm>
            <a:off x="7600950" y="1924050"/>
            <a:ext cx="114300" cy="1143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1" name="Block5Bar2"/>
          <p:cNvSpPr/>
          <p:nvPr/>
        </p:nvSpPr>
        <p:spPr>
          <a:xfrm>
            <a:off x="7753350" y="1847850"/>
            <a:ext cx="114300" cy="190500"/>
          </a:xfrm>
          <a:prstGeom prst="roundRect">
            <a:avLst>
              <a:gd name="adj" fmla="val 1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2" name="Block5Bar3"/>
          <p:cNvSpPr/>
          <p:nvPr/>
        </p:nvSpPr>
        <p:spPr>
          <a:xfrm>
            <a:off x="7905750" y="1771650"/>
            <a:ext cx="114300" cy="2667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3" name="Block5Bar4"/>
          <p:cNvSpPr/>
          <p:nvPr/>
        </p:nvSpPr>
        <p:spPr>
          <a:xfrm>
            <a:off x="8058150" y="1885950"/>
            <a:ext cx="114300" cy="1524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4" name="Block5Label"/>
          <p:cNvSpPr/>
          <p:nvPr/>
        </p:nvSpPr>
        <p:spPr>
          <a:xfrm>
            <a:off x="72961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Test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Report</a:t>
            </a:r>
          </a:p>
        </p:txBody>
      </p:sp>
      <p:sp>
        <p:nvSpPr>
          <p:cNvPr id="11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Sta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85725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</a:rPr>
              <a:t>The Problem: Traditional Automation Approach</a:t>
            </a:r>
          </a:p>
        </p:txBody>
      </p:sp>
      <p:sp>
        <p:nvSpPr>
          <p:cNvPr id="3" name="WorkflowLabel"/>
          <p:cNvSpPr/>
          <p:nvPr/>
        </p:nvSpPr>
        <p:spPr>
          <a:xfrm>
            <a:off x="285750" y="75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</a:rPr>
              <a:t>Traditional Workflow</a:t>
            </a:r>
          </a:p>
        </p:txBody>
      </p:sp>
      <p:sp>
        <p:nvSpPr>
          <p:cNvPr id="10" name="WF1"/>
          <p:cNvSpPr/>
          <p:nvPr/>
        </p:nvSpPr>
        <p:spPr>
          <a:xfrm>
            <a:off x="2857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Test Case</a:t>
            </a:r>
          </a:p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Data</a:t>
            </a:r>
          </a:p>
        </p:txBody>
      </p:sp>
      <p:sp>
        <p:nvSpPr>
          <p:cNvPr id="11" name="Arrow1"/>
          <p:cNvSpPr/>
          <p:nvPr/>
        </p:nvSpPr>
        <p:spPr>
          <a:xfrm>
            <a:off x="1428750" y="1314450"/>
            <a:ext cx="228600" cy="0"/>
          </a:xfrm>
          <a:prstGeom prst="straightConnector1">
            <a:avLst/>
          </a:prstGeom>
          <a:noFill/>
          <a:ln w="19050">
            <a:solidFill>
              <a:srgbClr val="DC2626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WF2"/>
          <p:cNvSpPr/>
          <p:nvPr/>
        </p:nvSpPr>
        <p:spPr>
          <a:xfrm>
            <a:off x="16573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Fit into Azure</a:t>
            </a:r>
          </a:p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Data Table</a:t>
            </a:r>
          </a:p>
        </p:txBody>
      </p:sp>
      <p:sp>
        <p:nvSpPr>
          <p:cNvPr id="13" name="Arrow2"/>
          <p:cNvSpPr/>
          <p:nvPr/>
        </p:nvSpPr>
        <p:spPr>
          <a:xfrm>
            <a:off x="2800350" y="1314450"/>
            <a:ext cx="228600" cy="0"/>
          </a:xfrm>
          <a:prstGeom prst="straightConnector1">
            <a:avLst/>
          </a:prstGeom>
          <a:noFill/>
          <a:ln w="19050">
            <a:solidFill>
              <a:srgbClr val="DC2626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" name="WF3"/>
          <p:cNvSpPr/>
          <p:nvPr/>
        </p:nvSpPr>
        <p:spPr>
          <a:xfrm>
            <a:off x="30289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Manual Script</a:t>
            </a:r>
          </a:p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Creation</a:t>
            </a:r>
          </a:p>
        </p:txBody>
      </p:sp>
      <p:sp>
        <p:nvSpPr>
          <p:cNvPr id="15" name="Arrow3"/>
          <p:cNvSpPr/>
          <p:nvPr/>
        </p:nvSpPr>
        <p:spPr>
          <a:xfrm>
            <a:off x="4171950" y="1314450"/>
            <a:ext cx="228600" cy="0"/>
          </a:xfrm>
          <a:prstGeom prst="straightConnector1">
            <a:avLst/>
          </a:prstGeom>
          <a:noFill/>
          <a:ln w="19050">
            <a:solidFill>
              <a:srgbClr val="DC2626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6" name="WF4"/>
          <p:cNvSpPr/>
          <p:nvPr/>
        </p:nvSpPr>
        <p:spPr>
          <a:xfrm>
            <a:off x="44005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Ongoing</a:t>
            </a:r>
          </a:p>
          <a:p>
            <a:pPr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</a:rPr>
              <a:t>Maintenance</a:t>
            </a:r>
          </a:p>
        </p:txBody>
      </p:sp>
      <p:sp>
        <p:nvSpPr>
          <p:cNvPr id="20" name="PainBox1"/>
          <p:cNvSpPr/>
          <p:nvPr/>
        </p:nvSpPr>
        <p:spPr>
          <a:xfrm>
            <a:off x="2857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28575">
            <a:solidFill>
              <a:srgbClr val="DC2626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DC2626"/>
                </a:solidFill>
                <a:latin typeface="Segoe UI" pitchFamily="34" charset="0"/>
              </a:rPr>
              <a:t>4+ Hours</a:t>
            </a:r>
          </a:p>
          <a:p>
            <a:pPr algn="ctr">
              <a:buNone/>
            </a:pPr>
            <a:r>
              <a:rPr lang="en-US" sz="1100" dirty="0">
                <a:solidFill>
                  <a:srgbClr val="991B1B"/>
                </a:solidFill>
                <a:latin typeface="Segoe UI" pitchFamily="34" charset="0"/>
              </a:rPr>
              <a:t>to create one automation script</a:t>
            </a:r>
          </a:p>
        </p:txBody>
      </p:sp>
      <p:sp>
        <p:nvSpPr>
          <p:cNvPr id="21" name="PainBox2"/>
          <p:cNvSpPr/>
          <p:nvPr/>
        </p:nvSpPr>
        <p:spPr>
          <a:xfrm>
            <a:off x="30289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28575">
            <a:solidFill>
              <a:srgbClr val="DC2626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</a:rPr>
              <a:t>Azure Data Table</a:t>
            </a:r>
          </a:p>
          <a:p>
            <a:pPr algn="ctr">
              <a:buNone/>
            </a:pPr>
            <a:r>
              <a:rPr lang="en-US" sz="1100" dirty="0">
                <a:solidFill>
                  <a:srgbClr val="991B1B"/>
                </a:solidFill>
                <a:latin typeface="Segoe UI" pitchFamily="34" charset="0"/>
              </a:rPr>
              <a:t>Not designed for complex</a:t>
            </a:r>
          </a:p>
          <a:p>
            <a:pPr algn="ctr">
              <a:buNone/>
            </a:pPr>
            <a:r>
              <a:rPr lang="en-US" sz="1100" dirty="0">
                <a:solidFill>
                  <a:srgbClr val="991B1B"/>
                </a:solidFill>
                <a:latin typeface="Segoe UI" pitchFamily="34" charset="0"/>
              </a:rPr>
              <a:t>test case data structures</a:t>
            </a:r>
          </a:p>
        </p:txBody>
      </p:sp>
      <p:sp>
        <p:nvSpPr>
          <p:cNvPr id="22" name="PainBox3"/>
          <p:cNvSpPr/>
          <p:nvPr/>
        </p:nvSpPr>
        <p:spPr>
          <a:xfrm>
            <a:off x="57721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28575">
            <a:solidFill>
              <a:srgbClr val="DC2626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</a:rPr>
              <a:t>Poor Readability</a:t>
            </a:r>
          </a:p>
          <a:p>
            <a:pPr algn="ctr">
              <a:buNone/>
            </a:pPr>
            <a:r>
              <a:rPr lang="en-US" sz="1100" dirty="0">
                <a:solidFill>
                  <a:srgbClr val="991B1B"/>
                </a:solidFill>
                <a:latin typeface="Segoe UI" pitchFamily="34" charset="0"/>
              </a:rPr>
              <a:t>Even if data fits, it's nearly</a:t>
            </a:r>
          </a:p>
          <a:p>
            <a:pPr algn="ctr">
              <a:buNone/>
            </a:pPr>
            <a:r>
              <a:rPr lang="en-US" sz="1100" dirty="0">
                <a:solidFill>
                  <a:srgbClr val="991B1B"/>
                </a:solidFill>
                <a:latin typeface="Segoe UI" pitchFamily="34" charset="0"/>
              </a:rPr>
              <a:t>impossible to read &amp; maintain</a:t>
            </a:r>
          </a:p>
        </p:txBody>
      </p:sp>
      <p:sp>
        <p:nvSpPr>
          <p:cNvPr id="30" name="ChallengesLabel"/>
          <p:cNvSpPr/>
          <p:nvPr/>
        </p:nvSpPr>
        <p:spPr>
          <a:xfrm>
            <a:off x="285750" y="28575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</a:rPr>
              <a:t>Key Challenges</a:t>
            </a:r>
          </a:p>
        </p:txBody>
      </p:sp>
      <p:sp>
        <p:nvSpPr>
          <p:cNvPr id="31" name="ChallengesList"/>
          <p:cNvSpPr/>
          <p:nvPr/>
        </p:nvSpPr>
        <p:spPr>
          <a:xfrm>
            <a:off x="285750" y="3114675"/>
            <a:ext cx="828675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Complex test data with actions, verifications, and multiple parameters </a:t>
            </a:r>
            <a:r>
              <a:rPr lang="en-US" sz="1100" b="1" dirty="0">
                <a:solidFill>
                  <a:srgbClr val="DC2626"/>
                </a:solidFill>
                <a:latin typeface="Segoe UI" pitchFamily="34" charset="0"/>
              </a:rPr>
              <a:t>doesn't fit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 Azure Data Table structure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Manual automation script creation requires </a:t>
            </a:r>
            <a:r>
              <a:rPr lang="en-US" sz="1100" b="1" dirty="0">
                <a:solidFill>
                  <a:srgbClr val="DC2626"/>
                </a:solidFill>
                <a:latin typeface="Segoe UI" pitchFamily="34" charset="0"/>
              </a:rPr>
              <a:t>4+ hours per test case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Even with effort, data in Azure Data Table has </a:t>
            </a:r>
            <a:r>
              <a:rPr lang="en-US" sz="1100" b="1" dirty="0">
                <a:solidFill>
                  <a:srgbClr val="DC2626"/>
                </a:solidFill>
                <a:latin typeface="Segoe UI" pitchFamily="34" charset="0"/>
              </a:rPr>
              <a:t>very poor readability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Every test case change requires </a:t>
            </a:r>
            <a:r>
              <a:rPr lang="en-US" sz="1100" b="1" dirty="0">
                <a:solidFill>
                  <a:srgbClr val="DC2626"/>
                </a:solidFill>
                <a:latin typeface="Segoe UI" pitchFamily="34" charset="0"/>
              </a:rPr>
              <a:t>script modification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 – high maintenance overhead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Slow turnaround time </a:t>
            </a:r>
            <a:r>
              <a:rPr lang="en-US" sz="1100" b="1" dirty="0">
                <a:solidFill>
                  <a:srgbClr val="DC2626"/>
                </a:solidFill>
                <a:latin typeface="Segoe UI" pitchFamily="34" charset="0"/>
              </a:rPr>
              <a:t>delays test delivery</a:t>
            </a:r>
          </a:p>
        </p:txBody>
      </p:sp>
      <p:sp>
        <p:nvSpPr>
          <p:cNvPr id="40" name="Footer"/>
          <p:cNvSpPr/>
          <p:nvPr/>
        </p:nvSpPr>
        <p:spPr>
          <a:xfrm>
            <a:off x="285750" y="4762500"/>
            <a:ext cx="150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</a:rPr>
              <a:t>Test Data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u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85725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Segoe UI" pitchFamily="34" charset="0"/>
              </a:rPr>
              <a:t>The Solution: Excel-Driven Automation</a:t>
            </a:r>
          </a:p>
        </p:txBody>
      </p:sp>
      <p:sp>
        <p:nvSpPr>
          <p:cNvPr id="3" name="WorkflowLabel"/>
          <p:cNvSpPr/>
          <p:nvPr/>
        </p:nvSpPr>
        <p:spPr>
          <a:xfrm>
            <a:off x="285750" y="75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</a:rPr>
              <a:t>New Workflow</a:t>
            </a:r>
          </a:p>
        </p:txBody>
      </p:sp>
      <p:sp>
        <p:nvSpPr>
          <p:cNvPr id="10" name="WF1"/>
          <p:cNvSpPr/>
          <p:nvPr/>
        </p:nvSpPr>
        <p:spPr>
          <a:xfrm>
            <a:off x="2857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9050">
            <a:solidFill>
              <a:srgbClr val="A7F3D0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Excel Test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Cases Sheet</a:t>
            </a:r>
          </a:p>
        </p:txBody>
      </p:sp>
      <p:sp>
        <p:nvSpPr>
          <p:cNvPr id="11" name="Arrow1"/>
          <p:cNvSpPr/>
          <p:nvPr/>
        </p:nvSpPr>
        <p:spPr>
          <a:xfrm>
            <a:off x="1428750" y="1314450"/>
            <a:ext cx="228600" cy="0"/>
          </a:xfrm>
          <a:prstGeom prst="straightConnector1">
            <a:avLst/>
          </a:prstGeom>
          <a:noFill/>
          <a:ln w="19050">
            <a:solidFill>
              <a:srgbClr val="059669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WF2"/>
          <p:cNvSpPr/>
          <p:nvPr/>
        </p:nvSpPr>
        <p:spPr>
          <a:xfrm>
            <a:off x="16573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9050">
            <a:solidFill>
              <a:srgbClr val="A7F3D0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Attach to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Azure Test Case</a:t>
            </a:r>
          </a:p>
        </p:txBody>
      </p:sp>
      <p:sp>
        <p:nvSpPr>
          <p:cNvPr id="13" name="Arrow2"/>
          <p:cNvSpPr/>
          <p:nvPr/>
        </p:nvSpPr>
        <p:spPr>
          <a:xfrm>
            <a:off x="2800350" y="1314450"/>
            <a:ext cx="228600" cy="0"/>
          </a:xfrm>
          <a:prstGeom prst="straightConnector1">
            <a:avLst/>
          </a:prstGeom>
          <a:noFill/>
          <a:ln w="19050">
            <a:solidFill>
              <a:srgbClr val="059669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" name="WF3"/>
          <p:cNvSpPr/>
          <p:nvPr/>
        </p:nvSpPr>
        <p:spPr>
          <a:xfrm>
            <a:off x="30289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9050">
            <a:solidFill>
              <a:srgbClr val="A7F3D0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Middleware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Transforms</a:t>
            </a:r>
          </a:p>
        </p:txBody>
      </p:sp>
      <p:sp>
        <p:nvSpPr>
          <p:cNvPr id="15" name="Arrow3"/>
          <p:cNvSpPr/>
          <p:nvPr/>
        </p:nvSpPr>
        <p:spPr>
          <a:xfrm>
            <a:off x="4171950" y="1314450"/>
            <a:ext cx="228600" cy="0"/>
          </a:xfrm>
          <a:prstGeom prst="straightConnector1">
            <a:avLst/>
          </a:prstGeom>
          <a:noFill/>
          <a:ln w="19050">
            <a:solidFill>
              <a:srgbClr val="059669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6" name="WF4"/>
          <p:cNvSpPr/>
          <p:nvPr/>
        </p:nvSpPr>
        <p:spPr>
          <a:xfrm>
            <a:off x="4400550" y="1028700"/>
            <a:ext cx="1143000" cy="571500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9050">
            <a:solidFill>
              <a:srgbClr val="A7F3D0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Auto Execute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Segoe UI" pitchFamily="34" charset="0"/>
              </a:rPr>
              <a:t>&amp; Report</a:t>
            </a:r>
          </a:p>
        </p:txBody>
      </p:sp>
      <p:sp>
        <p:nvSpPr>
          <p:cNvPr id="20" name="BenefitBox1"/>
          <p:cNvSpPr/>
          <p:nvPr/>
        </p:nvSpPr>
        <p:spPr>
          <a:xfrm>
            <a:off x="2857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8575">
            <a:solidFill>
              <a:srgbClr val="059669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59669"/>
                </a:solidFill>
                <a:latin typeface="Segoe UI" pitchFamily="34" charset="0"/>
              </a:rPr>
              <a:t>15 Minutes</a:t>
            </a:r>
          </a:p>
          <a:p>
            <a:pPr algn="ctr">
              <a:buNone/>
            </a:pPr>
            <a:r>
              <a:rPr lang="en-US" sz="1100" dirty="0">
                <a:solidFill>
                  <a:srgbClr val="065F46"/>
                </a:solidFill>
                <a:latin typeface="Segoe UI" pitchFamily="34" charset="0"/>
              </a:rPr>
              <a:t>instead of 4+ hours</a:t>
            </a:r>
          </a:p>
        </p:txBody>
      </p:sp>
      <p:sp>
        <p:nvSpPr>
          <p:cNvPr id="21" name="BenefitBox2"/>
          <p:cNvSpPr/>
          <p:nvPr/>
        </p:nvSpPr>
        <p:spPr>
          <a:xfrm>
            <a:off x="30289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8575">
            <a:solidFill>
              <a:srgbClr val="059669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</a:rPr>
              <a:t>Zero Script Creation</a:t>
            </a:r>
          </a:p>
          <a:p>
            <a:pPr algn="ctr">
              <a:buNone/>
            </a:pPr>
            <a:r>
              <a:rPr lang="en-US" sz="1100" dirty="0">
                <a:solidFill>
                  <a:srgbClr val="065F46"/>
                </a:solidFill>
                <a:latin typeface="Segoe UI" pitchFamily="34" charset="0"/>
              </a:rPr>
              <a:t>Middleware auto-transforms</a:t>
            </a:r>
          </a:p>
          <a:p>
            <a:pPr algn="ctr">
              <a:buNone/>
            </a:pPr>
            <a:r>
              <a:rPr lang="en-US" sz="1100" dirty="0">
                <a:solidFill>
                  <a:srgbClr val="065F46"/>
                </a:solidFill>
                <a:latin typeface="Segoe UI" pitchFamily="34" charset="0"/>
              </a:rPr>
              <a:t>Excel to automation test case</a:t>
            </a:r>
          </a:p>
        </p:txBody>
      </p:sp>
      <p:sp>
        <p:nvSpPr>
          <p:cNvPr id="22" name="BenefitBox3"/>
          <p:cNvSpPr/>
          <p:nvPr/>
        </p:nvSpPr>
        <p:spPr>
          <a:xfrm>
            <a:off x="5772150" y="177165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8575">
            <a:solidFill>
              <a:srgbClr val="059669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</a:rPr>
              <a:t>Zero Maintenance</a:t>
            </a:r>
          </a:p>
          <a:p>
            <a:pPr algn="ctr">
              <a:buNone/>
            </a:pPr>
            <a:r>
              <a:rPr lang="en-US" sz="1100" dirty="0">
                <a:solidFill>
                  <a:srgbClr val="065F46"/>
                </a:solidFill>
                <a:latin typeface="Segoe UI" pitchFamily="34" charset="0"/>
              </a:rPr>
              <a:t>Update spreadsheet =</a:t>
            </a:r>
          </a:p>
          <a:p>
            <a:pPr algn="ctr">
              <a:buNone/>
            </a:pPr>
            <a:r>
              <a:rPr lang="en-US" sz="1100" dirty="0">
                <a:solidFill>
                  <a:srgbClr val="065F46"/>
                </a:solidFill>
                <a:latin typeface="Segoe UI" pitchFamily="34" charset="0"/>
              </a:rPr>
              <a:t>Update test case</a:t>
            </a:r>
          </a:p>
        </p:txBody>
      </p:sp>
      <p:sp>
        <p:nvSpPr>
          <p:cNvPr id="30" name="BenefitsLabel"/>
          <p:cNvSpPr/>
          <p:nvPr/>
        </p:nvSpPr>
        <p:spPr>
          <a:xfrm>
            <a:off x="285750" y="28575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</a:rPr>
              <a:t>Key Benefits</a:t>
            </a:r>
          </a:p>
        </p:txBody>
      </p:sp>
      <p:sp>
        <p:nvSpPr>
          <p:cNvPr id="31" name="BenefitsList"/>
          <p:cNvSpPr/>
          <p:nvPr/>
        </p:nvSpPr>
        <p:spPr>
          <a:xfrm>
            <a:off x="285750" y="3114675"/>
            <a:ext cx="828675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Simply attach Excel Test Cases Sheet to Azure Test Case – </a:t>
            </a:r>
            <a:r>
              <a:rPr lang="en-US" sz="1100" b="1" dirty="0">
                <a:solidFill>
                  <a:srgbClr val="059669"/>
                </a:solidFill>
                <a:latin typeface="Segoe UI" pitchFamily="34" charset="0"/>
              </a:rPr>
              <a:t>automation ready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Turnaround time reduced from </a:t>
            </a:r>
            <a:r>
              <a:rPr lang="en-US" sz="1100" b="1" dirty="0">
                <a:solidFill>
                  <a:srgbClr val="059669"/>
                </a:solidFill>
                <a:latin typeface="Segoe UI" pitchFamily="34" charset="0"/>
              </a:rPr>
              <a:t>4+ hours to 15 minutes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No manual script creation – </a:t>
            </a:r>
            <a:r>
              <a:rPr lang="en-US" sz="1100" b="1" dirty="0">
                <a:solidFill>
                  <a:srgbClr val="059669"/>
                </a:solidFill>
                <a:latin typeface="Segoe UI" pitchFamily="34" charset="0"/>
              </a:rPr>
              <a:t>middleware handles transformation automatically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Maintain the spreadsheet = Maintain the test case – </a:t>
            </a:r>
            <a:r>
              <a:rPr lang="en-US" sz="1100" b="1" dirty="0">
                <a:solidFill>
                  <a:srgbClr val="059669"/>
                </a:solidFill>
                <a:latin typeface="Segoe UI" pitchFamily="34" charset="0"/>
              </a:rPr>
              <a:t>zero maintenance overhead</a:t>
            </a:r>
          </a:p>
          <a:p>
            <a:pPr marL="285750" indent="-285750">
              <a:lnSpc>
                <a:spcPts val="1800"/>
              </a:lnSpc>
              <a:buFont typeface="Arial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</a:rPr>
              <a:t>Complete transformation of </a:t>
            </a:r>
            <a:r>
              <a:rPr lang="en-US" sz="1100" b="1" dirty="0">
                <a:solidFill>
                  <a:srgbClr val="059669"/>
                </a:solidFill>
                <a:latin typeface="Segoe UI" pitchFamily="34" charset="0"/>
              </a:rPr>
              <a:t>automation test case creation, maintenance, and execution</a:t>
            </a:r>
          </a:p>
        </p:txBody>
      </p:sp>
      <p:sp>
        <p:nvSpPr>
          <p:cNvPr id="40" name="Footer"/>
          <p:cNvSpPr/>
          <p:nvPr/>
        </p:nvSpPr>
        <p:spPr>
          <a:xfrm>
            <a:off x="285750" y="4762500"/>
            <a:ext cx="150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</a:rPr>
              <a:t>Test Data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Macintosh PowerPoint</Application>
  <PresentationFormat>On-screen Show (16:9)</PresentationFormat>
  <Paragraphs>127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Data Management Workflow</dc:title>
  <dc:subject>PptxGenJS Presentation</dc:subject>
  <dc:creator>Claude</dc:creator>
  <cp:lastModifiedBy>Timothy Rajan Alex</cp:lastModifiedBy>
  <cp:revision>1</cp:revision>
  <dcterms:created xsi:type="dcterms:W3CDTF">2025-12-02T02:30:32Z</dcterms:created>
  <dcterms:modified xsi:type="dcterms:W3CDTF">2025-12-11T03:51:01Z</dcterms:modified>
</cp:coreProperties>
</file>