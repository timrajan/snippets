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801600" cy="16733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1E293B"/>
                </a:solidFill>
              </a:defRPr>
            </a:pPr>
            <a:r>
              <a:t>Db2 SQL Generation with MCP — Review &amp; Reuse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0" y="1828800"/>
            <a:ext cx="0" cy="365760"/>
          </a:xfrm>
          <a:prstGeom prst="line">
            <a:avLst/>
          </a:prstGeom>
          <a:ln w="2159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400800" y="2926080"/>
            <a:ext cx="0" cy="365760"/>
          </a:xfrm>
          <a:prstGeom prst="line">
            <a:avLst/>
          </a:prstGeom>
          <a:ln w="2159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0" y="4023360"/>
            <a:ext cx="0" cy="365760"/>
          </a:xfrm>
          <a:prstGeom prst="line">
            <a:avLst/>
          </a:prstGeom>
          <a:ln w="2159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400800" y="8138160"/>
            <a:ext cx="0" cy="548640"/>
          </a:xfrm>
          <a:prstGeom prst="line">
            <a:avLst/>
          </a:prstGeom>
          <a:ln w="2159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400800" y="9784080"/>
            <a:ext cx="0" cy="548640"/>
          </a:xfrm>
          <a:prstGeom prst="line">
            <a:avLst/>
          </a:prstGeom>
          <a:ln w="2159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400800" y="11155680"/>
            <a:ext cx="0" cy="548640"/>
          </a:xfrm>
          <a:prstGeom prst="line">
            <a:avLst/>
          </a:prstGeom>
          <a:ln w="2159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400800" y="12618720"/>
            <a:ext cx="0" cy="640080"/>
          </a:xfrm>
          <a:prstGeom prst="line">
            <a:avLst/>
          </a:prstGeom>
          <a:ln w="2159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400800" y="14036040"/>
            <a:ext cx="0" cy="685800"/>
          </a:xfrm>
          <a:prstGeom prst="line">
            <a:avLst/>
          </a:prstGeom>
          <a:ln w="21590">
            <a:solidFill>
              <a:srgbClr val="16A34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400800" y="5212080"/>
            <a:ext cx="0" cy="274320"/>
          </a:xfrm>
          <a:prstGeom prst="line">
            <a:avLst/>
          </a:prstGeom>
          <a:ln w="2159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2743200" y="5486400"/>
            <a:ext cx="3657600" cy="0"/>
          </a:xfrm>
          <a:prstGeom prst="line">
            <a:avLst/>
          </a:prstGeom>
          <a:ln w="2159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743200" y="5486400"/>
            <a:ext cx="0" cy="274320"/>
          </a:xfrm>
          <a:prstGeom prst="line">
            <a:avLst/>
          </a:prstGeom>
          <a:ln w="2159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743200" y="6766560"/>
            <a:ext cx="0" cy="274320"/>
          </a:xfrm>
          <a:prstGeom prst="line">
            <a:avLst/>
          </a:prstGeom>
          <a:ln w="2159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743200" y="7040880"/>
            <a:ext cx="3657600" cy="0"/>
          </a:xfrm>
          <a:prstGeom prst="line">
            <a:avLst/>
          </a:prstGeom>
          <a:ln w="2159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400800" y="7040880"/>
            <a:ext cx="0" cy="274320"/>
          </a:xfrm>
          <a:prstGeom prst="line">
            <a:avLst/>
          </a:prstGeom>
          <a:ln w="2159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400800" y="5212080"/>
            <a:ext cx="0" cy="274320"/>
          </a:xfrm>
          <a:prstGeom prst="line">
            <a:avLst/>
          </a:prstGeom>
          <a:ln w="2159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400800" y="5486400"/>
            <a:ext cx="0" cy="0"/>
          </a:xfrm>
          <a:prstGeom prst="line">
            <a:avLst/>
          </a:prstGeom>
          <a:ln w="2159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400800" y="5486400"/>
            <a:ext cx="0" cy="274320"/>
          </a:xfrm>
          <a:prstGeom prst="line">
            <a:avLst/>
          </a:prstGeom>
          <a:ln w="2159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400800" y="6766560"/>
            <a:ext cx="0" cy="274320"/>
          </a:xfrm>
          <a:prstGeom prst="line">
            <a:avLst/>
          </a:prstGeom>
          <a:ln w="2159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400800" y="7040880"/>
            <a:ext cx="0" cy="0"/>
          </a:xfrm>
          <a:prstGeom prst="line">
            <a:avLst/>
          </a:prstGeom>
          <a:ln w="2159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400800" y="7040880"/>
            <a:ext cx="0" cy="274320"/>
          </a:xfrm>
          <a:prstGeom prst="line">
            <a:avLst/>
          </a:prstGeom>
          <a:ln w="2159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400800" y="5212080"/>
            <a:ext cx="0" cy="274320"/>
          </a:xfrm>
          <a:prstGeom prst="line">
            <a:avLst/>
          </a:prstGeom>
          <a:ln w="2159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400800" y="5486400"/>
            <a:ext cx="3657600" cy="0"/>
          </a:xfrm>
          <a:prstGeom prst="line">
            <a:avLst/>
          </a:prstGeom>
          <a:ln w="2159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058400" y="5486400"/>
            <a:ext cx="0" cy="274320"/>
          </a:xfrm>
          <a:prstGeom prst="line">
            <a:avLst/>
          </a:prstGeom>
          <a:ln w="2159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058400" y="6766560"/>
            <a:ext cx="0" cy="274320"/>
          </a:xfrm>
          <a:prstGeom prst="line">
            <a:avLst/>
          </a:prstGeom>
          <a:ln w="2159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6400800" y="7040880"/>
            <a:ext cx="3657600" cy="0"/>
          </a:xfrm>
          <a:prstGeom prst="line">
            <a:avLst/>
          </a:prstGeom>
          <a:ln w="2159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400800" y="7040880"/>
            <a:ext cx="0" cy="274320"/>
          </a:xfrm>
          <a:prstGeom prst="line">
            <a:avLst/>
          </a:prstGeom>
          <a:ln w="2159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3657600" y="9189720"/>
            <a:ext cx="457200" cy="45720"/>
          </a:xfrm>
          <a:prstGeom prst="line">
            <a:avLst/>
          </a:prstGeom>
          <a:ln w="2159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548640" y="9189720"/>
            <a:ext cx="548640" cy="0"/>
          </a:xfrm>
          <a:prstGeom prst="line">
            <a:avLst/>
          </a:prstGeom>
          <a:ln w="2159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548640" y="2560320"/>
            <a:ext cx="0" cy="6629400"/>
          </a:xfrm>
          <a:prstGeom prst="line">
            <a:avLst/>
          </a:prstGeom>
          <a:ln w="2159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48640" y="2560320"/>
            <a:ext cx="3566160" cy="0"/>
          </a:xfrm>
          <a:prstGeom prst="line">
            <a:avLst/>
          </a:prstGeom>
          <a:ln w="2159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686800" y="12161520"/>
            <a:ext cx="3383280" cy="0"/>
          </a:xfrm>
          <a:prstGeom prst="line">
            <a:avLst/>
          </a:prstGeom>
          <a:ln w="2159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12070080" y="2560320"/>
            <a:ext cx="0" cy="9601200"/>
          </a:xfrm>
          <a:prstGeom prst="line">
            <a:avLst/>
          </a:prstGeom>
          <a:ln w="2159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8686800" y="2560320"/>
            <a:ext cx="3383280" cy="0"/>
          </a:xfrm>
          <a:prstGeom prst="line">
            <a:avLst/>
          </a:prstGeom>
          <a:ln w="2159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686800" y="15201900"/>
            <a:ext cx="3840480" cy="0"/>
          </a:xfrm>
          <a:prstGeom prst="line">
            <a:avLst/>
          </a:prstGeom>
          <a:ln w="2159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2527280" y="6263640"/>
            <a:ext cx="0" cy="8938260"/>
          </a:xfrm>
          <a:prstGeom prst="line">
            <a:avLst/>
          </a:prstGeom>
          <a:ln w="2159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11704319" y="6263640"/>
            <a:ext cx="822961" cy="0"/>
          </a:xfrm>
          <a:prstGeom prst="line">
            <a:avLst/>
          </a:prstGeom>
          <a:ln w="21590">
            <a:solidFill>
              <a:srgbClr val="16A34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4114800" y="914400"/>
            <a:ext cx="4572000" cy="914400"/>
          </a:xfrm>
          <a:prstGeom prst="roundRect">
            <a:avLst/>
          </a:prstGeom>
          <a:solidFill>
            <a:srgbClr val="EFF6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0F172A"/>
                </a:solidFill>
              </a:defRPr>
            </a:pPr>
            <a:r>
              <a:t>You ask a business question</a:t>
            </a:r>
          </a:p>
          <a:p>
            <a:pPr algn="ctr">
              <a:defRPr sz="1300">
                <a:solidFill>
                  <a:srgbClr val="0F172A"/>
                </a:solidFill>
              </a:defRPr>
            </a:pPr>
            <a:r>
              <a:t>Customers aged 30–35 in postcode 3000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14800" y="2194560"/>
            <a:ext cx="4572000" cy="731520"/>
          </a:xfrm>
          <a:prstGeom prst="roundRect">
            <a:avLst/>
          </a:prstGeom>
          <a:solidFill>
            <a:srgbClr val="EFF6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0F172A"/>
                </a:solidFill>
              </a:defRPr>
            </a:pPr>
            <a:r>
              <a:t>GitHub Copilot in VS Code</a:t>
            </a:r>
          </a:p>
          <a:p>
            <a:pPr algn="ctr">
              <a:defRPr sz="1300">
                <a:solidFill>
                  <a:srgbClr val="0F172A"/>
                </a:solidFill>
              </a:defRPr>
            </a:pPr>
            <a:r>
              <a:t>Interprets the question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114800" y="3291840"/>
            <a:ext cx="4572000" cy="731520"/>
          </a:xfrm>
          <a:prstGeom prst="roundRect">
            <a:avLst/>
          </a:prstGeom>
          <a:solidFill>
            <a:srgbClr val="EFF6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0F172A"/>
                </a:solidFill>
              </a:defRPr>
            </a:pPr>
            <a:r>
              <a:t>MCP client inside VS Code</a:t>
            </a:r>
          </a:p>
          <a:p>
            <a:pPr algn="ctr">
              <a:defRPr sz="1300">
                <a:solidFill>
                  <a:srgbClr val="0F172A"/>
                </a:solidFill>
              </a:defRPr>
            </a:pPr>
            <a:r>
              <a:t>Requests relevant context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114800" y="4389120"/>
            <a:ext cx="4572000" cy="822960"/>
          </a:xfrm>
          <a:prstGeom prst="roundRect">
            <a:avLst/>
          </a:prstGeom>
          <a:solidFill>
            <a:srgbClr val="EFF6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0F172A"/>
                </a:solidFill>
              </a:defRPr>
            </a:pPr>
            <a:r>
              <a:t>TypeScript / Node.js MCP server</a:t>
            </a:r>
          </a:p>
          <a:p>
            <a:pPr algn="ctr">
              <a:defRPr sz="1300">
                <a:solidFill>
                  <a:srgbClr val="0F172A"/>
                </a:solidFill>
              </a:defRPr>
            </a:pPr>
            <a:r>
              <a:t>Reads approved context files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97280" y="5760720"/>
            <a:ext cx="3291840" cy="1005840"/>
          </a:xfrm>
          <a:prstGeom prst="roundRect">
            <a:avLst/>
          </a:prstGeom>
          <a:solidFill>
            <a:srgbClr val="EFF6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0F172A"/>
                </a:solidFill>
              </a:defRPr>
            </a:pPr>
            <a:r>
              <a:t>Business rules</a:t>
            </a:r>
          </a:p>
          <a:p>
            <a:pPr algn="ctr">
              <a:defRPr sz="1300">
                <a:solidFill>
                  <a:srgbClr val="0F172A"/>
                </a:solidFill>
              </a:defRPr>
            </a:pPr>
            <a:r>
              <a:t>Table purposes, filters,</a:t>
            </a:r>
          </a:p>
          <a:p>
            <a:pPr algn="ctr">
              <a:defRPr sz="1300">
                <a:solidFill>
                  <a:srgbClr val="0F172A"/>
                </a:solidFill>
              </a:defRPr>
            </a:pPr>
            <a:r>
              <a:t>definitions and approved joins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754880" y="5760720"/>
            <a:ext cx="3291840" cy="1005840"/>
          </a:xfrm>
          <a:prstGeom prst="roundRect">
            <a:avLst/>
          </a:prstGeom>
          <a:solidFill>
            <a:srgbClr val="EFF6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0F172A"/>
                </a:solidFill>
              </a:defRPr>
            </a:pPr>
            <a:r>
              <a:t>Schema / DDL</a:t>
            </a:r>
          </a:p>
          <a:p>
            <a:pPr algn="ctr">
              <a:defRPr sz="1300">
                <a:solidFill>
                  <a:srgbClr val="0F172A"/>
                </a:solidFill>
              </a:defRPr>
            </a:pPr>
            <a:r>
              <a:t>Tables, columns, types and keys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412480" y="5760720"/>
            <a:ext cx="3291840" cy="1005840"/>
          </a:xfrm>
          <a:prstGeom prst="roundRect">
            <a:avLst/>
          </a:prstGeom>
          <a:solidFill>
            <a:srgbClr val="DCFCE7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0F172A"/>
                </a:solidFill>
              </a:defRPr>
            </a:pPr>
            <a:r>
              <a:t>Reviewed SQL examples</a:t>
            </a:r>
          </a:p>
          <a:p>
            <a:pPr algn="ctr">
              <a:defRPr sz="1300">
                <a:solidFill>
                  <a:srgbClr val="0F172A"/>
                </a:solidFill>
              </a:defRPr>
            </a:pPr>
            <a:r>
              <a:t>Growing library of approved patterns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114800" y="7315200"/>
            <a:ext cx="4572000" cy="822960"/>
          </a:xfrm>
          <a:prstGeom prst="roundRect">
            <a:avLst/>
          </a:prstGeom>
          <a:solidFill>
            <a:srgbClr val="EFF6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0F172A"/>
                </a:solidFill>
              </a:defRPr>
            </a:pPr>
            <a:r>
              <a:t>MCP server returns context</a:t>
            </a:r>
          </a:p>
          <a:p>
            <a:pPr algn="ctr">
              <a:defRPr sz="1300">
                <a:solidFill>
                  <a:srgbClr val="0F172A"/>
                </a:solidFill>
              </a:defRPr>
            </a:pPr>
            <a:r>
              <a:t>to Copilot through the client</a:t>
            </a:r>
          </a:p>
        </p:txBody>
      </p:sp>
      <p:sp>
        <p:nvSpPr>
          <p:cNvPr id="47" name="Diamond 46"/>
          <p:cNvSpPr/>
          <p:nvPr/>
        </p:nvSpPr>
        <p:spPr>
          <a:xfrm>
            <a:off x="4114800" y="8686800"/>
            <a:ext cx="4572000" cy="1097280"/>
          </a:xfrm>
          <a:prstGeom prst="diamond">
            <a:avLst/>
          </a:prstGeom>
          <a:solidFill>
            <a:srgbClr val="FEF3C7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0F172A"/>
                </a:solidFill>
              </a:defRPr>
            </a:pPr>
            <a:r>
              <a:t>Copilot checks the context</a:t>
            </a:r>
          </a:p>
          <a:p>
            <a:pPr algn="ctr">
              <a:defRPr sz="1100">
                <a:solidFill>
                  <a:srgbClr val="0F172A"/>
                </a:solidFill>
              </a:defRPr>
            </a:pPr>
            <a:r>
              <a:t>Anything missing or ambiguous?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97280" y="8732520"/>
            <a:ext cx="2560320" cy="914400"/>
          </a:xfrm>
          <a:prstGeom prst="roundRect">
            <a:avLst/>
          </a:prstGeom>
          <a:solidFill>
            <a:srgbClr val="FEF3C7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0F172A"/>
                </a:solidFill>
              </a:defRPr>
            </a:pPr>
            <a:r>
              <a:t>Copilot asks you</a:t>
            </a:r>
          </a:p>
          <a:p>
            <a:pPr algn="ctr">
              <a:defRPr sz="1300">
                <a:solidFill>
                  <a:srgbClr val="0F172A"/>
                </a:solidFill>
              </a:defRPr>
            </a:pPr>
            <a:r>
              <a:t>for clarification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114800" y="10332720"/>
            <a:ext cx="4572000" cy="822960"/>
          </a:xfrm>
          <a:prstGeom prst="roundRect">
            <a:avLst/>
          </a:prstGeom>
          <a:solidFill>
            <a:srgbClr val="EFF6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0F172A"/>
                </a:solidFill>
              </a:defRPr>
            </a:pPr>
            <a:r>
              <a:t>Copilot generates Db2 SQL</a:t>
            </a:r>
          </a:p>
          <a:p>
            <a:pPr algn="ctr">
              <a:defRPr sz="1300">
                <a:solidFill>
                  <a:srgbClr val="0F172A"/>
                </a:solidFill>
              </a:defRPr>
            </a:pPr>
            <a:r>
              <a:t>and explains assumptions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114800" y="11704320"/>
            <a:ext cx="4572000" cy="914400"/>
          </a:xfrm>
          <a:prstGeom prst="roundRect">
            <a:avLst/>
          </a:prstGeom>
          <a:solidFill>
            <a:srgbClr val="EFF6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0F172A"/>
                </a:solidFill>
              </a:defRPr>
            </a:pPr>
            <a:r>
              <a:t>You review the SQL</a:t>
            </a:r>
          </a:p>
          <a:p>
            <a:pPr algn="ctr">
              <a:defRPr sz="1300">
                <a:solidFill>
                  <a:srgbClr val="0F172A"/>
                </a:solidFill>
              </a:defRPr>
            </a:pPr>
            <a:r>
              <a:t>Tables, joins, filters and correctness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114800" y="13258800"/>
            <a:ext cx="4572000" cy="777240"/>
          </a:xfrm>
          <a:prstGeom prst="roundRect">
            <a:avLst/>
          </a:prstGeom>
          <a:solidFill>
            <a:srgbClr val="DCFCE7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0F172A"/>
                </a:solidFill>
              </a:defRPr>
            </a:pPr>
            <a:r>
              <a:t>Final SQL output</a:t>
            </a:r>
          </a:p>
          <a:p>
            <a:pPr algn="ctr">
              <a:defRPr sz="1300">
                <a:solidFill>
                  <a:srgbClr val="0F172A"/>
                </a:solidFill>
              </a:defRPr>
            </a:pPr>
            <a:r>
              <a:t>No SQL execution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114800" y="14721840"/>
            <a:ext cx="4572000" cy="960120"/>
          </a:xfrm>
          <a:prstGeom prst="roundRect">
            <a:avLst/>
          </a:prstGeom>
          <a:solidFill>
            <a:srgbClr val="DCFCE7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0F172A"/>
                </a:solidFill>
              </a:defRPr>
            </a:pPr>
            <a:r>
              <a:t>Save approved SQL example</a:t>
            </a:r>
          </a:p>
          <a:p>
            <a:pPr algn="ctr">
              <a:defRPr sz="1300">
                <a:solidFill>
                  <a:srgbClr val="0F172A"/>
                </a:solidFill>
              </a:defRPr>
            </a:pPr>
            <a:r>
              <a:t>Question, SQL, business rules</a:t>
            </a:r>
          </a:p>
          <a:p>
            <a:pPr algn="ctr">
              <a:defRPr sz="1300">
                <a:solidFill>
                  <a:srgbClr val="0F172A"/>
                </a:solidFill>
              </a:defRPr>
            </a:pPr>
            <a:r>
              <a:t>Reviewer, date and review status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57600" y="88696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1E293B"/>
                </a:solidFill>
              </a:defRPr>
            </a:pPr>
            <a:r>
              <a:t>Yes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92240" y="9875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1E293B"/>
                </a:solidFill>
              </a:defRPr>
            </a:pPr>
            <a:r>
              <a:t>No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4360" y="73152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1E293B"/>
                </a:solidFill>
              </a:defRPr>
            </a:pPr>
            <a:r>
              <a:t>You clarify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875520" y="105156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1E293B"/>
                </a:solidFill>
              </a:defRPr>
            </a:pPr>
            <a:r>
              <a:t>Changes needed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92240" y="128016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1E293B"/>
                </a:solidFill>
              </a:defRPr>
            </a:pPr>
            <a:r>
              <a:t>Accepted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46520" y="142189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15803D"/>
                </a:solidFill>
              </a:defRPr>
            </a:pPr>
            <a:r>
              <a:t>Approve for reuse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44000" y="1417320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15803D"/>
                </a:solidFill>
              </a:defRPr>
            </a:pPr>
            <a:r>
              <a:t>Add to reviewed SQL library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4400" y="16002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1E293B"/>
                </a:solidFill>
              </a:defRPr>
            </a:pPr>
            <a:r>
              <a:t>SQL generation only • No database connection or execution</a:t>
            </a:r>
            <a:br/>
            <a:r>
              <a:t>Examples provide future context, not model training. Status: human-reviewed, not execution-tested.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