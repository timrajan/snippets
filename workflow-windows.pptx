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Test Case Creator</a:t>
            </a:r>
            <a:endParaRPr lang="en-US" sz="3000" dirty="0"/>
          </a:p>
        </p:txBody>
      </p:sp>
      <p:sp>
        <p:nvSpPr>
          <p:cNvPr id="10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Spreadsheet-driven workflow — create new test cases, skip existing ones</a:t>
            </a:r>
            <a:endParaRPr lang="en-US" sz="1300" dirty="0"/>
          </a:p>
        </p:txBody>
      </p:sp>
      <p:sp>
        <p:nvSpPr>
          <p:cNvPr id="104" name="Shape 2"/>
          <p:cNvSpPr/>
          <p:nvPr/>
        </p:nvSpPr>
        <p:spPr>
          <a:xfrm>
            <a:off x="45720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Text 3"/>
          <p:cNvSpPr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400" dirty="0"/>
          </a:p>
        </p:txBody>
      </p:sp>
      <p:sp>
        <p:nvSpPr>
          <p:cNvPr id="106" name="Text 4"/>
          <p:cNvSpPr/>
          <p:nvPr/>
        </p:nvSpPr>
        <p:spPr>
          <a:xfrm>
            <a:off x="45720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with test names</a:t>
            </a:r>
            <a:endParaRPr lang="en-US" sz="1000" dirty="0"/>
          </a:p>
        </p:txBody>
      </p:sp>
      <p:sp>
        <p:nvSpPr>
          <p:cNvPr id="107" name="Shape 5"/>
          <p:cNvSpPr/>
          <p:nvPr/>
        </p:nvSpPr>
        <p:spPr>
          <a:xfrm>
            <a:off x="254203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8" name="Shape 6"/>
          <p:cNvSpPr/>
          <p:nvPr/>
        </p:nvSpPr>
        <p:spPr>
          <a:xfrm>
            <a:off x="320040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Text 7"/>
          <p:cNvSpPr/>
          <p:nvPr/>
        </p:nvSpPr>
        <p:spPr>
          <a:xfrm>
            <a:off x="32004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script</a:t>
            </a:r>
            <a:endParaRPr lang="en-US" sz="1400" dirty="0"/>
          </a:p>
        </p:txBody>
      </p:sp>
      <p:sp>
        <p:nvSpPr>
          <p:cNvPr id="110" name="Text 8"/>
          <p:cNvSpPr/>
          <p:nvPr/>
        </p:nvSpPr>
        <p:spPr>
          <a:xfrm>
            <a:off x="32004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rows, decides per row</a:t>
            </a:r>
            <a:endParaRPr lang="en-US" sz="1000" dirty="0"/>
          </a:p>
        </p:txBody>
      </p:sp>
      <p:sp>
        <p:nvSpPr>
          <p:cNvPr id="111" name="Shape 9"/>
          <p:cNvSpPr/>
          <p:nvPr/>
        </p:nvSpPr>
        <p:spPr>
          <a:xfrm>
            <a:off x="601675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2" name="Shape 10"/>
          <p:cNvSpPr/>
          <p:nvPr/>
        </p:nvSpPr>
        <p:spPr>
          <a:xfrm>
            <a:off x="667512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Text 11"/>
          <p:cNvSpPr/>
          <p:nvPr/>
        </p:nvSpPr>
        <p:spPr>
          <a:xfrm>
            <a:off x="667512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400" dirty="0"/>
          </a:p>
        </p:txBody>
      </p:sp>
      <p:sp>
        <p:nvSpPr>
          <p:cNvPr id="114" name="Text 12"/>
          <p:cNvSpPr/>
          <p:nvPr/>
        </p:nvSpPr>
        <p:spPr>
          <a:xfrm>
            <a:off x="667512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REST API</a:t>
            </a:r>
            <a:endParaRPr lang="en-US" sz="1000" dirty="0"/>
          </a:p>
        </p:txBody>
      </p:sp>
      <p:sp>
        <p:nvSpPr>
          <p:cNvPr id="115" name="Shape 13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6" name="Shape 14"/>
          <p:cNvSpPr/>
          <p:nvPr/>
        </p:nvSpPr>
        <p:spPr>
          <a:xfrm>
            <a:off x="457200" y="2103120"/>
            <a:ext cx="9144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7" name="Text 15"/>
          <p:cNvSpPr/>
          <p:nvPr/>
        </p:nvSpPr>
        <p:spPr>
          <a:xfrm>
            <a:off x="71323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present</a:t>
            </a:r>
            <a:endParaRPr lang="en-US" sz="1200" dirty="0"/>
          </a:p>
        </p:txBody>
      </p:sp>
      <p:sp>
        <p:nvSpPr>
          <p:cNvPr id="118" name="Text 16"/>
          <p:cNvSpPr/>
          <p:nvPr/>
        </p:nvSpPr>
        <p:spPr>
          <a:xfrm>
            <a:off x="71323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row — no ADO call, the existing ID is kept as-is.</a:t>
            </a:r>
            <a:endParaRPr lang="en-US" sz="1100" dirty="0"/>
          </a:p>
        </p:txBody>
      </p:sp>
      <p:sp>
        <p:nvSpPr>
          <p:cNvPr id="119" name="Shape 17"/>
          <p:cNvSpPr/>
          <p:nvPr/>
        </p:nvSpPr>
        <p:spPr>
          <a:xfrm>
            <a:off x="4663440" y="2103120"/>
            <a:ext cx="402336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0" name="Shape 18"/>
          <p:cNvSpPr/>
          <p:nvPr/>
        </p:nvSpPr>
        <p:spPr>
          <a:xfrm>
            <a:off x="4663440" y="2103120"/>
            <a:ext cx="91440" cy="8686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21" name="Text 19"/>
          <p:cNvSpPr/>
          <p:nvPr/>
        </p:nvSpPr>
        <p:spPr>
          <a:xfrm>
            <a:off x="491947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empty</a:t>
            </a:r>
            <a:endParaRPr lang="en-US" sz="1200" dirty="0"/>
          </a:p>
        </p:txBody>
      </p:sp>
      <p:sp>
        <p:nvSpPr>
          <p:cNvPr id="122" name="Text 20"/>
          <p:cNvSpPr/>
          <p:nvPr/>
        </p:nvSpPr>
        <p:spPr>
          <a:xfrm>
            <a:off x="491947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test case in ADO, then write the new ID back to the row.</a:t>
            </a:r>
            <a:endParaRPr lang="en-US" sz="1100" dirty="0"/>
          </a:p>
        </p:txBody>
      </p:sp>
      <p:sp>
        <p:nvSpPr>
          <p:cNvPr id="123" name="Text 21"/>
          <p:cNvSpPr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/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21031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invalid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TC-1042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from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reset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TC-1043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&amp; Result Publishing</a:t>
            </a:r>
            <a:endParaRPr lang="en-US" sz="3000" dirty="0"/>
          </a:p>
        </p:txBody>
      </p:sp>
      <p:sp>
        <p:nvSpPr>
          <p:cNvPr id="10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spreadsheet — each ADO test self-selects its row by matching ADO ID</a:t>
            </a:r>
            <a:endParaRPr lang="en-US" sz="1300" dirty="0"/>
          </a:p>
        </p:txBody>
      </p:sp>
      <p:sp>
        <p:nvSpPr>
          <p:cNvPr id="104" name="Shape 2"/>
          <p:cNvSpPr/>
          <p:nvPr/>
        </p:nvSpPr>
        <p:spPr>
          <a:xfrm>
            <a:off x="45720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Text 3"/>
          <p:cNvSpPr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106" name="Text 4"/>
          <p:cNvSpPr/>
          <p:nvPr/>
        </p:nvSpPr>
        <p:spPr>
          <a:xfrm>
            <a:off x="54864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triggers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test case</a:t>
            </a:r>
            <a:endParaRPr lang="en-US" sz="1000" dirty="0"/>
          </a:p>
        </p:txBody>
      </p:sp>
      <p:sp>
        <p:nvSpPr>
          <p:cNvPr id="107" name="Shape 5"/>
          <p:cNvSpPr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Test Case ID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900" dirty="0"/>
          </a:p>
        </p:txBody>
      </p:sp>
      <p:sp>
        <p:nvSpPr>
          <p:cNvPr id="109" name="Text 7"/>
          <p:cNvSpPr/>
          <p:nvPr/>
        </p:nvSpPr>
        <p:spPr>
          <a:xfrm>
            <a:off x="54864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receives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/ fail result</a:t>
            </a:r>
            <a:endParaRPr lang="en-US" sz="1000" dirty="0"/>
          </a:p>
        </p:txBody>
      </p:sp>
      <p:sp>
        <p:nvSpPr>
          <p:cNvPr id="110" name="Shape 8"/>
          <p:cNvSpPr/>
          <p:nvPr/>
        </p:nvSpPr>
        <p:spPr>
          <a:xfrm>
            <a:off x="2834640" y="128016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1" name="Text 9"/>
          <p:cNvSpPr/>
          <p:nvPr/>
        </p:nvSpPr>
        <p:spPr>
          <a:xfrm>
            <a:off x="28346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test  (TypeScript)</a:t>
            </a:r>
            <a:endParaRPr lang="en-US" sz="1300" dirty="0"/>
          </a:p>
        </p:txBody>
      </p:sp>
      <p:sp>
        <p:nvSpPr>
          <p:cNvPr id="112" name="Text 10"/>
          <p:cNvSpPr/>
          <p:nvPr/>
        </p:nvSpPr>
        <p:spPr>
          <a:xfrm>
            <a:off x="315468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test:</a:t>
            </a:r>
            <a:endParaRPr lang="en-US" sz="1000" dirty="0"/>
          </a:p>
        </p:txBody>
      </p:sp>
      <p:sp>
        <p:nvSpPr>
          <p:cNvPr id="113" name="Shape 11"/>
          <p:cNvSpPr/>
          <p:nvPr/>
        </p:nvSpPr>
        <p:spPr>
          <a:xfrm>
            <a:off x="3154680" y="21031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2"/>
          <p:cNvSpPr/>
          <p:nvPr/>
        </p:nvSpPr>
        <p:spPr>
          <a:xfrm>
            <a:off x="315468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5" name="Text 13"/>
          <p:cNvSpPr/>
          <p:nvPr/>
        </p:nvSpPr>
        <p:spPr>
          <a:xfrm>
            <a:off x="3493008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spreadsheet</a:t>
            </a:r>
            <a:endParaRPr lang="en-US" sz="1050" dirty="0"/>
          </a:p>
        </p:txBody>
      </p:sp>
      <p:sp>
        <p:nvSpPr>
          <p:cNvPr id="116" name="Shape 14"/>
          <p:cNvSpPr/>
          <p:nvPr/>
        </p:nvSpPr>
        <p:spPr>
          <a:xfrm>
            <a:off x="3154680" y="26060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5"/>
          <p:cNvSpPr/>
          <p:nvPr/>
        </p:nvSpPr>
        <p:spPr>
          <a:xfrm>
            <a:off x="315468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8" name="Text 16"/>
          <p:cNvSpPr/>
          <p:nvPr/>
        </p:nvSpPr>
        <p:spPr>
          <a:xfrm>
            <a:off x="349300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rows; find one where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‘ADO ID’ column = TC-1042</a:t>
            </a:r>
            <a:endParaRPr lang="en-US" sz="1050" dirty="0"/>
          </a:p>
        </p:txBody>
      </p:sp>
      <p:sp>
        <p:nvSpPr>
          <p:cNvPr id="119" name="Shape 17"/>
          <p:cNvSpPr/>
          <p:nvPr/>
        </p:nvSpPr>
        <p:spPr>
          <a:xfrm>
            <a:off x="3154680" y="310896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8"/>
          <p:cNvSpPr/>
          <p:nvPr/>
        </p:nvSpPr>
        <p:spPr>
          <a:xfrm>
            <a:off x="315468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1" name="Text 19"/>
          <p:cNvSpPr/>
          <p:nvPr/>
        </p:nvSpPr>
        <p:spPr>
          <a:xfrm>
            <a:off x="3493008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that row’s Puppeteer steps</a:t>
            </a:r>
            <a:endParaRPr lang="en-US" sz="1050" dirty="0"/>
          </a:p>
        </p:txBody>
      </p:sp>
      <p:sp>
        <p:nvSpPr>
          <p:cNvPr id="122" name="Shape 20"/>
          <p:cNvSpPr/>
          <p:nvPr/>
        </p:nvSpPr>
        <p:spPr>
          <a:xfrm>
            <a:off x="3154680" y="361188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21"/>
          <p:cNvSpPr/>
          <p:nvPr/>
        </p:nvSpPr>
        <p:spPr>
          <a:xfrm>
            <a:off x="315468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4" name="Text 22"/>
          <p:cNvSpPr/>
          <p:nvPr/>
        </p:nvSpPr>
        <p:spPr>
          <a:xfrm>
            <a:off x="349300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and report pass / fail</a:t>
            </a:r>
            <a:endParaRPr lang="en-US" sz="1050" dirty="0"/>
          </a:p>
        </p:txBody>
      </p:sp>
      <p:sp>
        <p:nvSpPr>
          <p:cNvPr id="125" name="Shape 23"/>
          <p:cNvSpPr/>
          <p:nvPr/>
        </p:nvSpPr>
        <p:spPr>
          <a:xfrm>
            <a:off x="6675120" y="12801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6" name="Text 24"/>
          <p:cNvSpPr/>
          <p:nvPr/>
        </p:nvSpPr>
        <p:spPr>
          <a:xfrm>
            <a:off x="66751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300" dirty="0"/>
          </a:p>
        </p:txBody>
      </p:sp>
      <p:sp>
        <p:nvSpPr>
          <p:cNvPr id="127" name="Shape 25"/>
          <p:cNvSpPr/>
          <p:nvPr/>
        </p:nvSpPr>
        <p:spPr>
          <a:xfrm>
            <a:off x="6812280" y="1783080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8" name="Text 26"/>
          <p:cNvSpPr/>
          <p:nvPr/>
        </p:nvSpPr>
        <p:spPr>
          <a:xfrm>
            <a:off x="6931152" y="1783080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ID</a:t>
            </a:r>
            <a:endParaRPr lang="en-US" sz="1000" dirty="0"/>
          </a:p>
        </p:txBody>
      </p:sp>
      <p:sp>
        <p:nvSpPr>
          <p:cNvPr id="129" name="Text 27"/>
          <p:cNvSpPr/>
          <p:nvPr/>
        </p:nvSpPr>
        <p:spPr>
          <a:xfrm>
            <a:off x="7863840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30" name="Shape 28"/>
          <p:cNvSpPr/>
          <p:nvPr/>
        </p:nvSpPr>
        <p:spPr>
          <a:xfrm>
            <a:off x="6812280" y="2112264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1" name="Text 29"/>
          <p:cNvSpPr/>
          <p:nvPr/>
        </p:nvSpPr>
        <p:spPr>
          <a:xfrm>
            <a:off x="6931152" y="2112264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TC-1041</a:t>
            </a:r>
            <a:endParaRPr lang="en-US" sz="1000" dirty="0"/>
          </a:p>
        </p:txBody>
      </p:sp>
      <p:sp>
        <p:nvSpPr>
          <p:cNvPr id="132" name="Text 30"/>
          <p:cNvSpPr/>
          <p:nvPr/>
        </p:nvSpPr>
        <p:spPr>
          <a:xfrm>
            <a:off x="7863840" y="2112264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33" name="Shape 31"/>
          <p:cNvSpPr/>
          <p:nvPr/>
        </p:nvSpPr>
        <p:spPr>
          <a:xfrm>
            <a:off x="6812280" y="2441448"/>
            <a:ext cx="1737360" cy="329184"/>
          </a:xfrm>
          <a:prstGeom prst="rect">
            <a:avLst/>
          </a:prstGeom>
          <a:solidFill>
            <a:srgbClr val="D1FAE5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134" name="Shape 32"/>
          <p:cNvSpPr/>
          <p:nvPr/>
        </p:nvSpPr>
        <p:spPr>
          <a:xfrm>
            <a:off x="6812280" y="2441448"/>
            <a:ext cx="64008" cy="329184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35" name="Text 33"/>
          <p:cNvSpPr/>
          <p:nvPr/>
        </p:nvSpPr>
        <p:spPr>
          <a:xfrm>
            <a:off x="6931152" y="2441448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1000" dirty="0"/>
          </a:p>
        </p:txBody>
      </p:sp>
      <p:sp>
        <p:nvSpPr>
          <p:cNvPr id="136" name="Text 34"/>
          <p:cNvSpPr/>
          <p:nvPr/>
        </p:nvSpPr>
        <p:spPr>
          <a:xfrm>
            <a:off x="7863840" y="2441448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137" name="Shape 35"/>
          <p:cNvSpPr/>
          <p:nvPr/>
        </p:nvSpPr>
        <p:spPr>
          <a:xfrm>
            <a:off x="6812280" y="2770632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8" name="Text 36"/>
          <p:cNvSpPr/>
          <p:nvPr/>
        </p:nvSpPr>
        <p:spPr>
          <a:xfrm>
            <a:off x="6931152" y="2770632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TC-1043</a:t>
            </a:r>
            <a:endParaRPr lang="en-US" sz="1000" dirty="0"/>
          </a:p>
        </p:txBody>
      </p:sp>
      <p:sp>
        <p:nvSpPr>
          <p:cNvPr id="139" name="Text 37"/>
          <p:cNvSpPr/>
          <p:nvPr/>
        </p:nvSpPr>
        <p:spPr>
          <a:xfrm>
            <a:off x="7863840" y="2770632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40" name="Shape 38"/>
          <p:cNvSpPr/>
          <p:nvPr/>
        </p:nvSpPr>
        <p:spPr>
          <a:xfrm>
            <a:off x="6812280" y="3099816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1" name="Text 39"/>
          <p:cNvSpPr/>
          <p:nvPr/>
        </p:nvSpPr>
        <p:spPr>
          <a:xfrm>
            <a:off x="6931152" y="3099816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TC-1044</a:t>
            </a:r>
            <a:endParaRPr lang="en-US" sz="1000" dirty="0"/>
          </a:p>
        </p:txBody>
      </p:sp>
      <p:sp>
        <p:nvSpPr>
          <p:cNvPr id="142" name="Text 40"/>
          <p:cNvSpPr/>
          <p:nvPr/>
        </p:nvSpPr>
        <p:spPr>
          <a:xfrm>
            <a:off x="7863840" y="3099816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143" name="Text 41"/>
          <p:cNvSpPr/>
          <p:nvPr/>
        </p:nvSpPr>
        <p:spPr>
          <a:xfrm>
            <a:off x="66751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where ADO ID = TC-1042  →  match</a:t>
            </a:r>
            <a:endParaRPr lang="en-US" sz="900" dirty="0"/>
          </a:p>
        </p:txBody>
      </p:sp>
      <p:sp>
        <p:nvSpPr>
          <p:cNvPr id="144" name="Shape 42"/>
          <p:cNvSpPr/>
          <p:nvPr/>
        </p:nvSpPr>
        <p:spPr>
          <a:xfrm>
            <a:off x="2011680" y="1874520"/>
            <a:ext cx="82296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45" name="Text 43"/>
          <p:cNvSpPr/>
          <p:nvPr/>
        </p:nvSpPr>
        <p:spPr>
          <a:xfrm>
            <a:off x="20116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Trigger</a:t>
            </a:r>
            <a:endParaRPr lang="en-US" sz="1000" dirty="0"/>
          </a:p>
        </p:txBody>
      </p:sp>
      <p:sp>
        <p:nvSpPr>
          <p:cNvPr id="146" name="Shape 44"/>
          <p:cNvSpPr/>
          <p:nvPr/>
        </p:nvSpPr>
        <p:spPr>
          <a:xfrm>
            <a:off x="5760720" y="1874520"/>
            <a:ext cx="91440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47" name="Text 45"/>
          <p:cNvSpPr/>
          <p:nvPr/>
        </p:nvSpPr>
        <p:spPr>
          <a:xfrm>
            <a:off x="5760720" y="1600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Read &amp; match</a:t>
            </a:r>
            <a:endParaRPr lang="en-US" sz="1000" dirty="0"/>
          </a:p>
        </p:txBody>
      </p:sp>
      <p:sp>
        <p:nvSpPr>
          <p:cNvPr id="148" name="Shape 46"/>
          <p:cNvSpPr/>
          <p:nvPr/>
        </p:nvSpPr>
        <p:spPr>
          <a:xfrm>
            <a:off x="2011680" y="3840480"/>
            <a:ext cx="82296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headEnd type="triangle"/>
          </a:ln>
        </p:spPr>
      </p:sp>
      <p:sp>
        <p:nvSpPr>
          <p:cNvPr id="149" name="Text 47"/>
          <p:cNvSpPr/>
          <p:nvPr/>
        </p:nvSpPr>
        <p:spPr>
          <a:xfrm>
            <a:off x="2011680" y="3904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Publish pass / fail</a:t>
            </a:r>
            <a:endParaRPr lang="en-US" sz="1000" dirty="0"/>
          </a:p>
        </p:txBody>
      </p:sp>
      <p:sp>
        <p:nvSpPr>
          <p:cNvPr id="150" name="Text 4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one shared spreadsheet for all test cases — each ADO test stays a thin wrapper that locates its own row.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Test Case Creator</dc:title>
  <dc:subject>PptxGenJS Presentation</dc:subject>
  <dc:creator>Two Lines Technology</dc:creator>
  <cp:lastModifiedBy>Two Lines Technology</cp:lastModifiedBy>
  <cp:revision>1</cp:revision>
  <dcterms:created xsi:type="dcterms:W3CDTF">2026-05-19T02:14:07Z</dcterms:created>
  <dcterms:modified xsi:type="dcterms:W3CDTF">2026-05-19T02:14:07Z</dcterms:modified>
</cp:coreProperties>
</file>