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218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7793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9840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Management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80010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Data-Driven Testing Pipeline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38300" y="2522190"/>
            <a:ext cx="952500" cy="6858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33550" y="26174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990725" y="26174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247900" y="26174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33550" y="27317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990725" y="27317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47900" y="27317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33550" y="28460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990725" y="28460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247900" y="28460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33550" y="29603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990725" y="29603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47900" y="29603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47950" y="270510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pic>
        <p:nvPicPr>
          <p:cNvPr id="18" name="Image 0" descr="/tmp/rasterized-gradient-3c90fc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900" y="2598390"/>
            <a:ext cx="533400" cy="533400"/>
          </a:xfrm>
          <a:prstGeom prst="rect">
            <a:avLst/>
          </a:prstGeom>
          <a:effectLst>
            <a:outerShdw blurRad="114300" dist="38100" dir="5400000" algn="bl" rotWithShape="0">
              <a:srgbClr val="14B8A6">
                <a:alpha val="30000"/>
              </a:srgbClr>
            </a:outerShdw>
          </a:effectLst>
        </p:spPr>
      </p:pic>
      <p:sp>
        <p:nvSpPr>
          <p:cNvPr id="19" name="Text 16"/>
          <p:cNvSpPr/>
          <p:nvPr/>
        </p:nvSpPr>
        <p:spPr>
          <a:xfrm>
            <a:off x="3165574" y="2691705"/>
            <a:ext cx="226493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3676650" y="270510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962400" y="2522190"/>
            <a:ext cx="952500" cy="6858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262677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038600" y="2598390"/>
            <a:ext cx="66675" cy="66675"/>
          </a:xfrm>
          <a:prstGeom prst="roundRect">
            <a:avLst>
              <a:gd name="adj" fmla="val 137142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133850" y="2598390"/>
            <a:ext cx="66675" cy="66675"/>
          </a:xfrm>
          <a:prstGeom prst="roundRect">
            <a:avLst>
              <a:gd name="adj" fmla="val 1371429"/>
            </a:avLst>
          </a:prstGeom>
          <a:solidFill>
            <a:srgbClr val="EAB30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229100" y="2598390"/>
            <a:ext cx="66675" cy="66675"/>
          </a:xfrm>
          <a:prstGeom prst="roundRect">
            <a:avLst>
              <a:gd name="adj" fmla="val 1371429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038600" y="2712690"/>
            <a:ext cx="254050" cy="85725"/>
          </a:xfrm>
          <a:prstGeom prst="roundRect">
            <a:avLst>
              <a:gd name="adj" fmla="val 22222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311700" y="2712690"/>
            <a:ext cx="254050" cy="85725"/>
          </a:xfrm>
          <a:prstGeom prst="roundRect">
            <a:avLst>
              <a:gd name="adj" fmla="val 22222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584799" y="2712690"/>
            <a:ext cx="254050" cy="85725"/>
          </a:xfrm>
          <a:prstGeom prst="roundRect">
            <a:avLst>
              <a:gd name="adj" fmla="val 22222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038600" y="2826990"/>
            <a:ext cx="254050" cy="762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311700" y="2826990"/>
            <a:ext cx="254050" cy="762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584799" y="2826990"/>
            <a:ext cx="254050" cy="762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038600" y="2922240"/>
            <a:ext cx="254050" cy="762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311700" y="2922240"/>
            <a:ext cx="254050" cy="762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584799" y="2922240"/>
            <a:ext cx="254050" cy="762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972050" y="270510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5257800" y="2522190"/>
            <a:ext cx="952500" cy="6858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334000" y="259839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5384453" y="2627858"/>
            <a:ext cx="52373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buNone/>
            </a:pPr>
            <a:r>
              <a:rPr lang="en-US" sz="5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525" dirty="0"/>
          </a:p>
        </p:txBody>
      </p:sp>
      <p:sp>
        <p:nvSpPr>
          <p:cNvPr id="38" name="Text 35"/>
          <p:cNvSpPr/>
          <p:nvPr/>
        </p:nvSpPr>
        <p:spPr>
          <a:xfrm>
            <a:off x="5524500" y="2621310"/>
            <a:ext cx="31514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5334000" y="2779365"/>
            <a:ext cx="95250" cy="9525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5357664" y="2786955"/>
            <a:ext cx="48881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450" dirty="0"/>
          </a:p>
        </p:txBody>
      </p:sp>
      <p:sp>
        <p:nvSpPr>
          <p:cNvPr id="41" name="Text 38"/>
          <p:cNvSpPr/>
          <p:nvPr/>
        </p:nvSpPr>
        <p:spPr>
          <a:xfrm>
            <a:off x="5457825" y="2780258"/>
            <a:ext cx="22679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buNone/>
            </a:pPr>
            <a:r>
              <a:rPr lang="en-US" sz="5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TC-001</a:t>
            </a:r>
            <a:endParaRPr lang="en-US" sz="525" dirty="0"/>
          </a:p>
        </p:txBody>
      </p:sp>
      <p:sp>
        <p:nvSpPr>
          <p:cNvPr id="42" name="Text 39"/>
          <p:cNvSpPr/>
          <p:nvPr/>
        </p:nvSpPr>
        <p:spPr>
          <a:xfrm>
            <a:off x="5334000" y="290319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5357664" y="2910780"/>
            <a:ext cx="48881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450" dirty="0"/>
          </a:p>
        </p:txBody>
      </p:sp>
      <p:sp>
        <p:nvSpPr>
          <p:cNvPr id="44" name="Text 41"/>
          <p:cNvSpPr/>
          <p:nvPr/>
        </p:nvSpPr>
        <p:spPr>
          <a:xfrm>
            <a:off x="5457825" y="2904083"/>
            <a:ext cx="22679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buNone/>
            </a:pPr>
            <a:r>
              <a:rPr lang="en-US" sz="5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TC-002</a:t>
            </a:r>
            <a:endParaRPr lang="en-US" sz="525" dirty="0"/>
          </a:p>
        </p:txBody>
      </p:sp>
      <p:sp>
        <p:nvSpPr>
          <p:cNvPr id="45" name="Text 42"/>
          <p:cNvSpPr/>
          <p:nvPr/>
        </p:nvSpPr>
        <p:spPr>
          <a:xfrm>
            <a:off x="5334000" y="3027015"/>
            <a:ext cx="95250" cy="95250"/>
          </a:xfrm>
          <a:prstGeom prst="roundRect">
            <a:avLst>
              <a:gd name="adj" fmla="val 20000"/>
            </a:avLst>
          </a:prstGeom>
          <a:solidFill>
            <a:srgbClr val="EAB30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5457825" y="3027908"/>
            <a:ext cx="22679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buNone/>
            </a:pPr>
            <a:r>
              <a:rPr lang="en-US" sz="5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TC-003</a:t>
            </a:r>
            <a:endParaRPr lang="en-US" sz="525" dirty="0"/>
          </a:p>
        </p:txBody>
      </p:sp>
      <p:sp>
        <p:nvSpPr>
          <p:cNvPr id="47" name="Text 44"/>
          <p:cNvSpPr/>
          <p:nvPr/>
        </p:nvSpPr>
        <p:spPr>
          <a:xfrm>
            <a:off x="6267450" y="270510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pic>
        <p:nvPicPr>
          <p:cNvPr id="48" name="Image 1" descr="/tmp/rasterized-gradient-a34076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2522190"/>
            <a:ext cx="952500" cy="685800"/>
          </a:xfrm>
          <a:prstGeom prst="rect">
            <a:avLst/>
          </a:prstGeom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</p:pic>
      <p:sp>
        <p:nvSpPr>
          <p:cNvPr id="49" name="Text 45"/>
          <p:cNvSpPr/>
          <p:nvPr/>
        </p:nvSpPr>
        <p:spPr>
          <a:xfrm>
            <a:off x="6629400" y="2598390"/>
            <a:ext cx="1212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750" dirty="0"/>
          </a:p>
        </p:txBody>
      </p:sp>
      <p:sp>
        <p:nvSpPr>
          <p:cNvPr id="50" name="Text 46"/>
          <p:cNvSpPr/>
          <p:nvPr/>
        </p:nvSpPr>
        <p:spPr>
          <a:xfrm>
            <a:off x="6776889" y="2605088"/>
            <a:ext cx="3159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675" dirty="0"/>
          </a:p>
        </p:txBody>
      </p:sp>
      <p:sp>
        <p:nvSpPr>
          <p:cNvPr id="51" name="Text 47"/>
          <p:cNvSpPr/>
          <p:nvPr/>
        </p:nvSpPr>
        <p:spPr>
          <a:xfrm>
            <a:off x="6629400" y="2769840"/>
            <a:ext cx="381000" cy="247650"/>
          </a:xfrm>
          <a:prstGeom prst="roundRect">
            <a:avLst>
              <a:gd name="adj" fmla="val 11538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6645021" y="2788890"/>
            <a:ext cx="3497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85%</a:t>
            </a:r>
            <a:endParaRPr lang="en-US" sz="750" dirty="0"/>
          </a:p>
        </p:txBody>
      </p:sp>
      <p:sp>
        <p:nvSpPr>
          <p:cNvPr id="53" name="Text 49"/>
          <p:cNvSpPr/>
          <p:nvPr/>
        </p:nvSpPr>
        <p:spPr>
          <a:xfrm>
            <a:off x="6645021" y="2931765"/>
            <a:ext cx="34975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25"/>
              </a:lnSpc>
              <a:spcBef>
                <a:spcPts val="75"/>
              </a:spcBef>
              <a:buNone/>
            </a:pPr>
            <a:r>
              <a:rPr lang="en-US" sz="3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</a:t>
            </a:r>
            <a:endParaRPr lang="en-US" sz="375" dirty="0"/>
          </a:p>
        </p:txBody>
      </p:sp>
      <p:sp>
        <p:nvSpPr>
          <p:cNvPr id="54" name="Text 50"/>
          <p:cNvSpPr/>
          <p:nvPr/>
        </p:nvSpPr>
        <p:spPr>
          <a:xfrm>
            <a:off x="7048500" y="2769840"/>
            <a:ext cx="381000" cy="247650"/>
          </a:xfrm>
          <a:prstGeom prst="roundRect">
            <a:avLst>
              <a:gd name="adj" fmla="val 11538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7064121" y="2788890"/>
            <a:ext cx="3497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15%</a:t>
            </a:r>
            <a:endParaRPr lang="en-US" sz="750" dirty="0"/>
          </a:p>
        </p:txBody>
      </p:sp>
      <p:sp>
        <p:nvSpPr>
          <p:cNvPr id="56" name="Text 52"/>
          <p:cNvSpPr/>
          <p:nvPr/>
        </p:nvSpPr>
        <p:spPr>
          <a:xfrm>
            <a:off x="7064121" y="2931765"/>
            <a:ext cx="34975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25"/>
              </a:lnSpc>
              <a:spcBef>
                <a:spcPts val="75"/>
              </a:spcBef>
              <a:buNone/>
            </a:pPr>
            <a:r>
              <a:rPr lang="en-US" sz="3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</a:t>
            </a:r>
            <a:endParaRPr lang="en-US" sz="375" dirty="0"/>
          </a:p>
        </p:txBody>
      </p:sp>
      <p:sp>
        <p:nvSpPr>
          <p:cNvPr id="57" name="Text 53"/>
          <p:cNvSpPr/>
          <p:nvPr/>
        </p:nvSpPr>
        <p:spPr>
          <a:xfrm>
            <a:off x="6629400" y="3055590"/>
            <a:ext cx="800100" cy="381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8" name="Image 2" descr="/tmp/rasterized-gradient-0ce1e8d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055590"/>
            <a:ext cx="679996" cy="38100"/>
          </a:xfrm>
          <a:prstGeom prst="rect">
            <a:avLst/>
          </a:prstGeom>
        </p:spPr>
      </p:pic>
      <p:sp>
        <p:nvSpPr>
          <p:cNvPr id="59" name="Text 54"/>
          <p:cNvSpPr/>
          <p:nvPr/>
        </p:nvSpPr>
        <p:spPr>
          <a:xfrm>
            <a:off x="1628775" y="3474690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Source</a:t>
            </a:r>
            <a:endParaRPr lang="en-US" sz="825" dirty="0"/>
          </a:p>
        </p:txBody>
      </p:sp>
      <p:sp>
        <p:nvSpPr>
          <p:cNvPr id="60" name="Text 55"/>
          <p:cNvSpPr/>
          <p:nvPr/>
        </p:nvSpPr>
        <p:spPr>
          <a:xfrm>
            <a:off x="1628775" y="3640336"/>
            <a:ext cx="971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Excel/CSV</a:t>
            </a:r>
            <a:endParaRPr lang="en-US" sz="675" dirty="0"/>
          </a:p>
        </p:txBody>
      </p:sp>
      <p:sp>
        <p:nvSpPr>
          <p:cNvPr id="61" name="Text 56"/>
          <p:cNvSpPr/>
          <p:nvPr/>
        </p:nvSpPr>
        <p:spPr>
          <a:xfrm>
            <a:off x="2926842" y="3474690"/>
            <a:ext cx="6995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Processing</a:t>
            </a:r>
            <a:endParaRPr lang="en-US" sz="825" dirty="0"/>
          </a:p>
        </p:txBody>
      </p:sp>
      <p:sp>
        <p:nvSpPr>
          <p:cNvPr id="62" name="Text 57"/>
          <p:cNvSpPr/>
          <p:nvPr/>
        </p:nvSpPr>
        <p:spPr>
          <a:xfrm>
            <a:off x="2926842" y="3640336"/>
            <a:ext cx="6995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</a:t>
            </a:r>
            <a:endParaRPr lang="en-US" sz="675" dirty="0"/>
          </a:p>
        </p:txBody>
      </p:sp>
      <p:sp>
        <p:nvSpPr>
          <p:cNvPr id="63" name="Text 58"/>
          <p:cNvSpPr/>
          <p:nvPr/>
        </p:nvSpPr>
        <p:spPr>
          <a:xfrm>
            <a:off x="3952875" y="3474690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Table</a:t>
            </a:r>
            <a:endParaRPr lang="en-US" sz="825" dirty="0"/>
          </a:p>
        </p:txBody>
      </p:sp>
      <p:sp>
        <p:nvSpPr>
          <p:cNvPr id="64" name="Text 59"/>
          <p:cNvSpPr/>
          <p:nvPr/>
        </p:nvSpPr>
        <p:spPr>
          <a:xfrm>
            <a:off x="3952875" y="3640336"/>
            <a:ext cx="971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Accessible</a:t>
            </a:r>
            <a:endParaRPr lang="en-US" sz="675" dirty="0"/>
          </a:p>
        </p:txBody>
      </p:sp>
      <p:sp>
        <p:nvSpPr>
          <p:cNvPr id="65" name="Text 60"/>
          <p:cNvSpPr/>
          <p:nvPr/>
        </p:nvSpPr>
        <p:spPr>
          <a:xfrm>
            <a:off x="5248275" y="3474690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Execution</a:t>
            </a:r>
            <a:endParaRPr lang="en-US" sz="825" dirty="0"/>
          </a:p>
        </p:txBody>
      </p:sp>
      <p:sp>
        <p:nvSpPr>
          <p:cNvPr id="66" name="Text 61"/>
          <p:cNvSpPr/>
          <p:nvPr/>
        </p:nvSpPr>
        <p:spPr>
          <a:xfrm>
            <a:off x="5248275" y="3640336"/>
            <a:ext cx="971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Data-Driven</a:t>
            </a:r>
            <a:endParaRPr lang="en-US" sz="675" dirty="0"/>
          </a:p>
        </p:txBody>
      </p:sp>
      <p:sp>
        <p:nvSpPr>
          <p:cNvPr id="67" name="Text 62"/>
          <p:cNvSpPr/>
          <p:nvPr/>
        </p:nvSpPr>
        <p:spPr>
          <a:xfrm>
            <a:off x="6543675" y="3474690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Report</a:t>
            </a:r>
            <a:endParaRPr lang="en-US" sz="825" dirty="0"/>
          </a:p>
        </p:txBody>
      </p:sp>
      <p:sp>
        <p:nvSpPr>
          <p:cNvPr id="68" name="Text 63"/>
          <p:cNvSpPr/>
          <p:nvPr/>
        </p:nvSpPr>
        <p:spPr>
          <a:xfrm>
            <a:off x="6543675" y="3640336"/>
            <a:ext cx="971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</a:t>
            </a:r>
            <a:endParaRPr lang="en-US" sz="675" dirty="0"/>
          </a:p>
        </p:txBody>
      </p:sp>
      <p:sp>
        <p:nvSpPr>
          <p:cNvPr id="69" name="Text 64"/>
          <p:cNvSpPr/>
          <p:nvPr/>
        </p:nvSpPr>
        <p:spPr>
          <a:xfrm>
            <a:off x="285750" y="4762500"/>
            <a:ext cx="18723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 Data Management Pipeline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3810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Points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1500" y="2433638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9150" y="2376488"/>
            <a:ext cx="312049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 source is the Excel sheet data.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2919413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9150" y="2862263"/>
            <a:ext cx="525851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the same Excel sheet which we use for executing test cases.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1500" y="3405188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9150" y="3348038"/>
            <a:ext cx="587119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 sheet or the Excel sheets will be sent to the translator programme.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85750" y="4762500"/>
            <a:ext cx="10044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Management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3810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1500" y="2381250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9150" y="2324100"/>
            <a:ext cx="790841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Translator programme reads the data in the Excel sheet (all the rows and the columns) and creates a replica of that same data in a database.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3200400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9150" y="3143250"/>
            <a:ext cx="790841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is a web table through which you can view the data that is in the database. The web table acts as a UI or a mirror of the data in the data table.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85750" y="4762500"/>
            <a:ext cx="10044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Management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3810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Details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1500" y="2638425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9150" y="2581275"/>
            <a:ext cx="70448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need to add a module in our automation framework to read the data from the database.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3200400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9150" y="3143250"/>
            <a:ext cx="537540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formulas are directly copied from the Excel sheet to the data table.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85750" y="4762500"/>
            <a:ext cx="10044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Management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206</Words>
  <Application>Microsoft Office PowerPoint</Application>
  <PresentationFormat>On-screen Show (16:9)</PresentationFormat>
  <Paragraphs>48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Data Management Workflow</dc:title>
  <dc:subject>PptxGenJS Presentation</dc:subject>
  <dc:creator>Claude</dc:creator>
  <cp:lastModifiedBy>Timothy Rajan Alex</cp:lastModifiedBy>
  <cp:revision>1</cp:revision>
  <dcterms:created xsi:type="dcterms:W3CDTF">2025-12-02T02:30:32Z</dcterms:created>
  <dcterms:modified xsi:type="dcterms:W3CDTF">2025-12-02T02:48:51Z</dcterms:modified>
</cp:coreProperties>
</file>