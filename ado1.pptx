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ext 0"/>
          <p:cNvSpPr txBox="1"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DevOps Test Case Creator</a:t>
            </a:r>
            <a:endParaRPr lang="en-US" sz="3000" dirty="0"/>
          </a:p>
        </p:txBody>
      </p:sp>
      <p:sp>
        <p:nvSpPr>
          <p:cNvPr id="1003" name="Text 1"/>
          <p:cNvSpPr txBox="1"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Spreadsheet-driven workflow — create new test cases, skip existing ones</a:t>
            </a:r>
            <a:endParaRPr lang="en-US" sz="1300" dirty="0"/>
          </a:p>
        </p:txBody>
      </p:sp>
      <p:sp>
        <p:nvSpPr>
          <p:cNvPr id="1004" name="Shape 2"/>
          <p:cNvSpPr/>
          <p:nvPr/>
        </p:nvSpPr>
        <p:spPr>
          <a:xfrm>
            <a:off x="457200" y="1097280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05" name="Text 3"/>
          <p:cNvSpPr txBox="1"/>
          <p:nvPr/>
        </p:nvSpPr>
        <p:spPr>
          <a:xfrm>
            <a:off x="457200" y="1188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</a:t>
            </a:r>
            <a:endParaRPr lang="en-US" sz="1400" dirty="0"/>
          </a:p>
        </p:txBody>
      </p:sp>
      <p:sp>
        <p:nvSpPr>
          <p:cNvPr id="1006" name="Text 4"/>
          <p:cNvSpPr txBox="1"/>
          <p:nvPr/>
        </p:nvSpPr>
        <p:spPr>
          <a:xfrm>
            <a:off x="457200" y="14813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.xlsx with test names</a:t>
            </a:r>
            <a:endParaRPr lang="en-US" sz="1000" dirty="0"/>
          </a:p>
        </p:txBody>
      </p:sp>
      <p:sp>
        <p:nvSpPr>
          <p:cNvPr id="1007" name="Shape 5"/>
          <p:cNvSpPr/>
          <p:nvPr/>
        </p:nvSpPr>
        <p:spPr>
          <a:xfrm>
            <a:off x="2542032" y="1463040"/>
            <a:ext cx="566928" cy="0"/>
          </a:xfrm>
          <a:prstGeom prst="line">
            <a:avLst/>
          </a:prstGeom>
          <a:noFill/>
          <a:ln w="317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008" name="Shape 6"/>
          <p:cNvSpPr/>
          <p:nvPr/>
        </p:nvSpPr>
        <p:spPr>
          <a:xfrm>
            <a:off x="3200400" y="1097280"/>
            <a:ext cx="2743200" cy="731520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09" name="Text 7"/>
          <p:cNvSpPr txBox="1"/>
          <p:nvPr/>
        </p:nvSpPr>
        <p:spPr>
          <a:xfrm>
            <a:off x="3200400" y="1188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script</a:t>
            </a:r>
            <a:endParaRPr lang="en-US" sz="1400" dirty="0"/>
          </a:p>
        </p:txBody>
      </p:sp>
      <p:sp>
        <p:nvSpPr>
          <p:cNvPr id="1010" name="Text 8"/>
          <p:cNvSpPr txBox="1"/>
          <p:nvPr/>
        </p:nvSpPr>
        <p:spPr>
          <a:xfrm>
            <a:off x="3200400" y="1481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iterates rows, decides per row</a:t>
            </a:r>
            <a:endParaRPr lang="en-US" sz="1000" dirty="0"/>
          </a:p>
        </p:txBody>
      </p:sp>
      <p:sp>
        <p:nvSpPr>
          <p:cNvPr id="1011" name="Shape 9"/>
          <p:cNvSpPr/>
          <p:nvPr/>
        </p:nvSpPr>
        <p:spPr>
          <a:xfrm>
            <a:off x="6016752" y="1463040"/>
            <a:ext cx="566928" cy="0"/>
          </a:xfrm>
          <a:prstGeom prst="line">
            <a:avLst/>
          </a:prstGeom>
          <a:noFill/>
          <a:ln w="317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012" name="Shape 10"/>
          <p:cNvSpPr/>
          <p:nvPr/>
        </p:nvSpPr>
        <p:spPr>
          <a:xfrm>
            <a:off x="6675120" y="1097280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13" name="Text 11"/>
          <p:cNvSpPr txBox="1"/>
          <p:nvPr/>
        </p:nvSpPr>
        <p:spPr>
          <a:xfrm>
            <a:off x="6675120" y="1188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DevOps</a:t>
            </a:r>
            <a:endParaRPr lang="en-US" sz="1400" dirty="0"/>
          </a:p>
        </p:txBody>
      </p:sp>
      <p:sp>
        <p:nvSpPr>
          <p:cNvPr id="1014" name="Text 12"/>
          <p:cNvSpPr txBox="1"/>
          <p:nvPr/>
        </p:nvSpPr>
        <p:spPr>
          <a:xfrm>
            <a:off x="6675120" y="14813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item REST API</a:t>
            </a:r>
            <a:endParaRPr lang="en-US" sz="1000" dirty="0"/>
          </a:p>
        </p:txBody>
      </p:sp>
      <p:sp>
        <p:nvSpPr>
          <p:cNvPr id="1015" name="Shape 13"/>
          <p:cNvSpPr/>
          <p:nvPr/>
        </p:nvSpPr>
        <p:spPr>
          <a:xfrm>
            <a:off x="457200" y="2103120"/>
            <a:ext cx="4023360" cy="86868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16" name="Shape 14"/>
          <p:cNvSpPr/>
          <p:nvPr/>
        </p:nvSpPr>
        <p:spPr>
          <a:xfrm>
            <a:off x="457200" y="2103120"/>
            <a:ext cx="91440" cy="8686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017" name="Text 15"/>
          <p:cNvSpPr txBox="1"/>
          <p:nvPr/>
        </p:nvSpPr>
        <p:spPr>
          <a:xfrm>
            <a:off x="713232" y="2194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Test Case ID is present</a:t>
            </a:r>
            <a:endParaRPr lang="en-US" sz="1200" dirty="0"/>
          </a:p>
        </p:txBody>
      </p:sp>
      <p:sp>
        <p:nvSpPr>
          <p:cNvPr id="1018" name="Text 16"/>
          <p:cNvSpPr txBox="1"/>
          <p:nvPr/>
        </p:nvSpPr>
        <p:spPr>
          <a:xfrm>
            <a:off x="713232" y="248716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the row — no ADO call, the existing ID is kept as-is.</a:t>
            </a:r>
            <a:endParaRPr lang="en-US" sz="1100" dirty="0"/>
          </a:p>
        </p:txBody>
      </p:sp>
      <p:sp>
        <p:nvSpPr>
          <p:cNvPr id="1019" name="Shape 17"/>
          <p:cNvSpPr/>
          <p:nvPr/>
        </p:nvSpPr>
        <p:spPr>
          <a:xfrm>
            <a:off x="4663440" y="2103120"/>
            <a:ext cx="4023360" cy="868680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20" name="Shape 18"/>
          <p:cNvSpPr/>
          <p:nvPr/>
        </p:nvSpPr>
        <p:spPr>
          <a:xfrm>
            <a:off x="4663440" y="2103120"/>
            <a:ext cx="91440" cy="868680"/>
          </a:xfrm>
          <a:prstGeom prst="rect">
            <a:avLst/>
          </a:prstGeom>
          <a:solidFill>
            <a:srgbClr val="0E7C66"/>
          </a:solidFill>
          <a:ln w="12700">
            <a:solidFill>
              <a:srgbClr val="0E7C66"/>
            </a:solidFill>
            <a:prstDash val="solid"/>
          </a:ln>
        </p:spPr>
      </p:sp>
      <p:sp>
        <p:nvSpPr>
          <p:cNvPr id="1021" name="Text 19"/>
          <p:cNvSpPr txBox="1"/>
          <p:nvPr/>
        </p:nvSpPr>
        <p:spPr>
          <a:xfrm>
            <a:off x="4919472" y="2194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Test Case ID is empty</a:t>
            </a:r>
            <a:endParaRPr lang="en-US" sz="1200" dirty="0"/>
          </a:p>
        </p:txBody>
      </p:sp>
      <p:sp>
        <p:nvSpPr>
          <p:cNvPr id="1022" name="Text 20"/>
          <p:cNvSpPr txBox="1"/>
          <p:nvPr/>
        </p:nvSpPr>
        <p:spPr>
          <a:xfrm>
            <a:off x="4919472" y="248716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test case in ADO, then write the new ID back to the row.</a:t>
            </a:r>
            <a:endParaRPr lang="en-US" sz="1100" dirty="0"/>
          </a:p>
        </p:txBody>
      </p:sp>
      <p:sp>
        <p:nvSpPr>
          <p:cNvPr id="1023" name="Text 21"/>
          <p:cNvSpPr txBox="1"/>
          <p:nvPr/>
        </p:nvSpPr>
        <p:spPr>
          <a:xfrm>
            <a:off x="457200" y="31272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run</a:t>
            </a:r>
            <a:endParaRPr lang="en-US" sz="1200" dirty="0"/>
          </a:p>
        </p:txBody>
      </p:sp>
      <p:graphicFrame>
        <p:nvGraphicFramePr>
          <p:cNvPr id="1024" name="Table 0"/>
          <p:cNvGraphicFramePr>
            <a:graphicFrameLocks noGrp="1"/>
          </p:cNvGraphicFramePr>
          <p:nvPr/>
        </p:nvGraphicFramePr>
        <p:xfrm>
          <a:off x="457200" y="3429000"/>
          <a:ext cx="82296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3657600"/>
                <a:gridCol w="2103120"/>
                <a:gridCol w="201168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Case 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 with valid credentials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TC-1001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Skip — already exists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 with invalid credentials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7C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TC-1042   (new)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7C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 in 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Logout from dashboard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TC-1019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Skip — already exists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Password reset flow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7C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TC-1043   (new)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7C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 in 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ext 0"/>
          <p:cNvSpPr txBox="1"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Execution &amp; Result Publishing</a:t>
            </a:r>
            <a:endParaRPr lang="en-US" sz="3000" dirty="0"/>
          </a:p>
        </p:txBody>
      </p:sp>
      <p:sp>
        <p:nvSpPr>
          <p:cNvPr id="1003" name="Text 1"/>
          <p:cNvSpPr txBox="1"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spreadsheet — each ADO test self-selects its row by matching ADO ID</a:t>
            </a:r>
            <a:endParaRPr lang="en-US" sz="1300" dirty="0"/>
          </a:p>
        </p:txBody>
      </p:sp>
      <p:sp>
        <p:nvSpPr>
          <p:cNvPr id="1004" name="Shape 2"/>
          <p:cNvSpPr/>
          <p:nvPr/>
        </p:nvSpPr>
        <p:spPr>
          <a:xfrm>
            <a:off x="457200" y="1280160"/>
            <a:ext cx="1554480" cy="2926080"/>
          </a:xfrm>
          <a:prstGeom prst="roundRect">
            <a:avLst>
              <a:gd name="adj" fmla="val 470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05" name="Text 3"/>
          <p:cNvSpPr txBox="1"/>
          <p:nvPr/>
        </p:nvSpPr>
        <p:spPr>
          <a:xfrm>
            <a:off x="457200" y="1417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DevOps</a:t>
            </a:r>
            <a:endParaRPr lang="en-US" sz="1300" dirty="0"/>
          </a:p>
        </p:txBody>
      </p:sp>
      <p:sp>
        <p:nvSpPr>
          <p:cNvPr id="1006" name="Text 4"/>
          <p:cNvSpPr txBox="1"/>
          <p:nvPr/>
        </p:nvSpPr>
        <p:spPr>
          <a:xfrm>
            <a:off x="548640" y="17373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triggers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test case</a:t>
            </a:r>
            <a:endParaRPr lang="en-US" sz="1000" dirty="0"/>
          </a:p>
        </p:txBody>
      </p:sp>
      <p:sp>
        <p:nvSpPr>
          <p:cNvPr id="1007" name="Shape 5"/>
          <p:cNvSpPr/>
          <p:nvPr/>
        </p:nvSpPr>
        <p:spPr>
          <a:xfrm>
            <a:off x="594360" y="2423160"/>
            <a:ext cx="1280160" cy="6400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008" name="Text 6"/>
          <p:cNvSpPr txBox="1"/>
          <p:nvPr/>
        </p:nvSpPr>
        <p:spPr>
          <a:xfrm>
            <a:off x="594360" y="24231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 Test Case ID</a:t>
            </a:r>
            <a:endParaRPr lang="en-US" sz="9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TC-1042</a:t>
            </a:r>
            <a:endParaRPr lang="en-US" sz="900" dirty="0"/>
          </a:p>
        </p:txBody>
      </p:sp>
      <p:sp>
        <p:nvSpPr>
          <p:cNvPr id="1009" name="Text 7"/>
          <p:cNvSpPr txBox="1"/>
          <p:nvPr/>
        </p:nvSpPr>
        <p:spPr>
          <a:xfrm>
            <a:off x="548640" y="33832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…then receives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pass / fail result</a:t>
            </a:r>
            <a:endParaRPr lang="en-US" sz="1000" dirty="0"/>
          </a:p>
        </p:txBody>
      </p:sp>
      <p:sp>
        <p:nvSpPr>
          <p:cNvPr id="1010" name="Shape 8"/>
          <p:cNvSpPr/>
          <p:nvPr/>
        </p:nvSpPr>
        <p:spPr>
          <a:xfrm>
            <a:off x="2834640" y="1280160"/>
            <a:ext cx="2926080" cy="2926080"/>
          </a:xfrm>
          <a:prstGeom prst="roundRect">
            <a:avLst>
              <a:gd name="adj" fmla="val 2500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011" name="Text 9"/>
          <p:cNvSpPr txBox="1"/>
          <p:nvPr/>
        </p:nvSpPr>
        <p:spPr>
          <a:xfrm>
            <a:off x="2834640" y="1417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Puppeteer test  (TypeScript)</a:t>
            </a:r>
            <a:endParaRPr lang="en-US" sz="1300" dirty="0"/>
          </a:p>
        </p:txBody>
      </p:sp>
      <p:sp>
        <p:nvSpPr>
          <p:cNvPr id="1012" name="Text 10"/>
          <p:cNvSpPr txBox="1"/>
          <p:nvPr/>
        </p:nvSpPr>
        <p:spPr>
          <a:xfrm>
            <a:off x="3154680" y="17373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test:</a:t>
            </a:r>
            <a:endParaRPr lang="en-US" sz="1000" dirty="0"/>
          </a:p>
        </p:txBody>
      </p:sp>
      <p:sp>
        <p:nvSpPr>
          <p:cNvPr id="1013" name="Shape 11"/>
          <p:cNvSpPr/>
          <p:nvPr/>
        </p:nvSpPr>
        <p:spPr>
          <a:xfrm>
            <a:off x="3154680" y="2103120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14" name="Text 12"/>
          <p:cNvSpPr txBox="1"/>
          <p:nvPr/>
        </p:nvSpPr>
        <p:spPr>
          <a:xfrm>
            <a:off x="3154680" y="21031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015" name="Text 13"/>
          <p:cNvSpPr txBox="1"/>
          <p:nvPr/>
        </p:nvSpPr>
        <p:spPr>
          <a:xfrm>
            <a:off x="3493008" y="20574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spreadsheet</a:t>
            </a:r>
            <a:endParaRPr lang="en-US" sz="1050" dirty="0"/>
          </a:p>
        </p:txBody>
      </p:sp>
      <p:sp>
        <p:nvSpPr>
          <p:cNvPr id="1016" name="Shape 14"/>
          <p:cNvSpPr/>
          <p:nvPr/>
        </p:nvSpPr>
        <p:spPr>
          <a:xfrm>
            <a:off x="3154680" y="2606040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17" name="Text 15"/>
          <p:cNvSpPr txBox="1"/>
          <p:nvPr/>
        </p:nvSpPr>
        <p:spPr>
          <a:xfrm>
            <a:off x="3154680" y="26060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018" name="Text 16"/>
          <p:cNvSpPr txBox="1"/>
          <p:nvPr/>
        </p:nvSpPr>
        <p:spPr>
          <a:xfrm>
            <a:off x="3493008" y="25603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rows; find one where the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‘ADO ID’ column = TC-1042</a:t>
            </a:r>
            <a:endParaRPr lang="en-US" sz="1050" dirty="0"/>
          </a:p>
        </p:txBody>
      </p:sp>
      <p:sp>
        <p:nvSpPr>
          <p:cNvPr id="1019" name="Shape 17"/>
          <p:cNvSpPr/>
          <p:nvPr/>
        </p:nvSpPr>
        <p:spPr>
          <a:xfrm>
            <a:off x="3154680" y="3108960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20" name="Text 18"/>
          <p:cNvSpPr txBox="1"/>
          <p:nvPr/>
        </p:nvSpPr>
        <p:spPr>
          <a:xfrm>
            <a:off x="3154680" y="31089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021" name="Text 19"/>
          <p:cNvSpPr txBox="1"/>
          <p:nvPr/>
        </p:nvSpPr>
        <p:spPr>
          <a:xfrm>
            <a:off x="3493008" y="30632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that row’s Puppeteer steps</a:t>
            </a:r>
            <a:endParaRPr lang="en-US" sz="1050" dirty="0"/>
          </a:p>
        </p:txBody>
      </p:sp>
      <p:sp>
        <p:nvSpPr>
          <p:cNvPr id="1022" name="Shape 20"/>
          <p:cNvSpPr/>
          <p:nvPr/>
        </p:nvSpPr>
        <p:spPr>
          <a:xfrm>
            <a:off x="3154680" y="3611880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23" name="Text 21"/>
          <p:cNvSpPr txBox="1"/>
          <p:nvPr/>
        </p:nvSpPr>
        <p:spPr>
          <a:xfrm>
            <a:off x="3154680" y="3611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024" name="Text 22"/>
          <p:cNvSpPr txBox="1"/>
          <p:nvPr/>
        </p:nvSpPr>
        <p:spPr>
          <a:xfrm>
            <a:off x="3493008" y="35661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and report pass / fail</a:t>
            </a:r>
            <a:endParaRPr lang="en-US" sz="1050" dirty="0"/>
          </a:p>
        </p:txBody>
      </p:sp>
      <p:sp>
        <p:nvSpPr>
          <p:cNvPr id="1025" name="Shape 23"/>
          <p:cNvSpPr/>
          <p:nvPr/>
        </p:nvSpPr>
        <p:spPr>
          <a:xfrm>
            <a:off x="6675120" y="1280160"/>
            <a:ext cx="2011680" cy="2926080"/>
          </a:xfrm>
          <a:prstGeom prst="roundRect">
            <a:avLst>
              <a:gd name="adj" fmla="val 363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26" name="Text 24"/>
          <p:cNvSpPr txBox="1"/>
          <p:nvPr/>
        </p:nvSpPr>
        <p:spPr>
          <a:xfrm>
            <a:off x="6675120" y="1417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</a:t>
            </a:r>
            <a:endParaRPr lang="en-US" sz="1300" dirty="0"/>
          </a:p>
        </p:txBody>
      </p:sp>
      <p:sp>
        <p:nvSpPr>
          <p:cNvPr id="1027" name="Shape 25"/>
          <p:cNvSpPr/>
          <p:nvPr/>
        </p:nvSpPr>
        <p:spPr>
          <a:xfrm>
            <a:off x="6812280" y="1783080"/>
            <a:ext cx="17373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28" name="Text 26"/>
          <p:cNvSpPr txBox="1"/>
          <p:nvPr/>
        </p:nvSpPr>
        <p:spPr>
          <a:xfrm>
            <a:off x="6931152" y="1783080"/>
            <a:ext cx="96012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 ID</a:t>
            </a:r>
            <a:endParaRPr lang="en-US" sz="1000" dirty="0"/>
          </a:p>
        </p:txBody>
      </p:sp>
      <p:sp>
        <p:nvSpPr>
          <p:cNvPr id="1029" name="Text 27"/>
          <p:cNvSpPr txBox="1"/>
          <p:nvPr/>
        </p:nvSpPr>
        <p:spPr>
          <a:xfrm>
            <a:off x="7863840" y="1783080"/>
            <a:ext cx="54864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000" dirty="0"/>
          </a:p>
        </p:txBody>
      </p:sp>
      <p:sp>
        <p:nvSpPr>
          <p:cNvPr id="1030" name="Shape 28"/>
          <p:cNvSpPr/>
          <p:nvPr/>
        </p:nvSpPr>
        <p:spPr>
          <a:xfrm>
            <a:off x="6812280" y="2112264"/>
            <a:ext cx="17373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31" name="Text 29"/>
          <p:cNvSpPr txBox="1"/>
          <p:nvPr/>
        </p:nvSpPr>
        <p:spPr>
          <a:xfrm>
            <a:off x="6931152" y="2112264"/>
            <a:ext cx="96012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TC-1041</a:t>
            </a:r>
            <a:endParaRPr lang="en-US" sz="1000" dirty="0"/>
          </a:p>
        </p:txBody>
      </p:sp>
      <p:sp>
        <p:nvSpPr>
          <p:cNvPr id="1032" name="Text 30"/>
          <p:cNvSpPr txBox="1"/>
          <p:nvPr/>
        </p:nvSpPr>
        <p:spPr>
          <a:xfrm>
            <a:off x="7863840" y="2112264"/>
            <a:ext cx="54864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000" dirty="0"/>
          </a:p>
        </p:txBody>
      </p:sp>
      <p:sp>
        <p:nvSpPr>
          <p:cNvPr id="1033" name="Shape 31"/>
          <p:cNvSpPr/>
          <p:nvPr/>
        </p:nvSpPr>
        <p:spPr>
          <a:xfrm>
            <a:off x="6812280" y="2441448"/>
            <a:ext cx="1737360" cy="329184"/>
          </a:xfrm>
          <a:prstGeom prst="rect">
            <a:avLst/>
          </a:prstGeom>
          <a:solidFill>
            <a:srgbClr val="D1FAE5"/>
          </a:solidFill>
          <a:ln w="19050">
            <a:solidFill>
              <a:srgbClr val="0E7C66"/>
            </a:solidFill>
            <a:prstDash val="solid"/>
          </a:ln>
        </p:spPr>
      </p:sp>
      <p:sp>
        <p:nvSpPr>
          <p:cNvPr id="1034" name="Shape 32"/>
          <p:cNvSpPr/>
          <p:nvPr/>
        </p:nvSpPr>
        <p:spPr>
          <a:xfrm>
            <a:off x="6812280" y="2441448"/>
            <a:ext cx="64008" cy="329184"/>
          </a:xfrm>
          <a:prstGeom prst="rect">
            <a:avLst/>
          </a:prstGeom>
          <a:solidFill>
            <a:srgbClr val="0E7C66"/>
          </a:solidFill>
          <a:ln w="12700">
            <a:solidFill>
              <a:srgbClr val="0E7C66"/>
            </a:solidFill>
            <a:prstDash val="solid"/>
          </a:ln>
        </p:spPr>
      </p:sp>
      <p:sp>
        <p:nvSpPr>
          <p:cNvPr id="1035" name="Text 33"/>
          <p:cNvSpPr txBox="1"/>
          <p:nvPr/>
        </p:nvSpPr>
        <p:spPr>
          <a:xfrm>
            <a:off x="6931152" y="2441448"/>
            <a:ext cx="96012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TC-1042</a:t>
            </a:r>
            <a:endParaRPr lang="en-US" sz="1000" dirty="0"/>
          </a:p>
        </p:txBody>
      </p:sp>
      <p:sp>
        <p:nvSpPr>
          <p:cNvPr id="1036" name="Text 34"/>
          <p:cNvSpPr txBox="1"/>
          <p:nvPr/>
        </p:nvSpPr>
        <p:spPr>
          <a:xfrm>
            <a:off x="7863840" y="2441448"/>
            <a:ext cx="54864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</a:t>
            </a:r>
            <a:endParaRPr lang="en-US" sz="1000" dirty="0"/>
          </a:p>
        </p:txBody>
      </p:sp>
      <p:sp>
        <p:nvSpPr>
          <p:cNvPr id="1037" name="Shape 35"/>
          <p:cNvSpPr/>
          <p:nvPr/>
        </p:nvSpPr>
        <p:spPr>
          <a:xfrm>
            <a:off x="6812280" y="2770632"/>
            <a:ext cx="17373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38" name="Text 36"/>
          <p:cNvSpPr txBox="1"/>
          <p:nvPr/>
        </p:nvSpPr>
        <p:spPr>
          <a:xfrm>
            <a:off x="6931152" y="2770632"/>
            <a:ext cx="96012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TC-1043</a:t>
            </a:r>
            <a:endParaRPr lang="en-US" sz="1000" dirty="0"/>
          </a:p>
        </p:txBody>
      </p:sp>
      <p:sp>
        <p:nvSpPr>
          <p:cNvPr id="1039" name="Text 37"/>
          <p:cNvSpPr txBox="1"/>
          <p:nvPr/>
        </p:nvSpPr>
        <p:spPr>
          <a:xfrm>
            <a:off x="7863840" y="2770632"/>
            <a:ext cx="54864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000" dirty="0"/>
          </a:p>
        </p:txBody>
      </p:sp>
      <p:sp>
        <p:nvSpPr>
          <p:cNvPr id="1040" name="Shape 38"/>
          <p:cNvSpPr/>
          <p:nvPr/>
        </p:nvSpPr>
        <p:spPr>
          <a:xfrm>
            <a:off x="6812280" y="3099816"/>
            <a:ext cx="17373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41" name="Text 39"/>
          <p:cNvSpPr txBox="1"/>
          <p:nvPr/>
        </p:nvSpPr>
        <p:spPr>
          <a:xfrm>
            <a:off x="6931152" y="3099816"/>
            <a:ext cx="96012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TC-1044</a:t>
            </a:r>
            <a:endParaRPr lang="en-US" sz="1000" dirty="0"/>
          </a:p>
        </p:txBody>
      </p:sp>
      <p:sp>
        <p:nvSpPr>
          <p:cNvPr id="1042" name="Text 40"/>
          <p:cNvSpPr txBox="1"/>
          <p:nvPr/>
        </p:nvSpPr>
        <p:spPr>
          <a:xfrm>
            <a:off x="7863840" y="3099816"/>
            <a:ext cx="54864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000" dirty="0"/>
          </a:p>
        </p:txBody>
      </p:sp>
      <p:sp>
        <p:nvSpPr>
          <p:cNvPr id="1043" name="Text 41"/>
          <p:cNvSpPr txBox="1"/>
          <p:nvPr/>
        </p:nvSpPr>
        <p:spPr>
          <a:xfrm>
            <a:off x="6675120" y="3474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where ADO ID = TC-1042  →  match</a:t>
            </a:r>
            <a:endParaRPr lang="en-US" sz="900" dirty="0"/>
          </a:p>
        </p:txBody>
      </p:sp>
      <p:sp>
        <p:nvSpPr>
          <p:cNvPr id="1044" name="Shape 42"/>
          <p:cNvSpPr/>
          <p:nvPr/>
        </p:nvSpPr>
        <p:spPr>
          <a:xfrm>
            <a:off x="2011680" y="1874520"/>
            <a:ext cx="822960" cy="0"/>
          </a:xfrm>
          <a:prstGeom prst="line">
            <a:avLst/>
          </a:prstGeom>
          <a:noFill/>
          <a:ln w="31750">
            <a:solidFill>
              <a:srgbClr val="1F3A5F"/>
            </a:solidFill>
            <a:prstDash val="solid"/>
            <a:tailEnd type="triangle"/>
          </a:ln>
        </p:spPr>
      </p:sp>
      <p:sp>
        <p:nvSpPr>
          <p:cNvPr id="1045" name="Text 43"/>
          <p:cNvSpPr txBox="1"/>
          <p:nvPr/>
        </p:nvSpPr>
        <p:spPr>
          <a:xfrm>
            <a:off x="2011680" y="16002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Trigger</a:t>
            </a:r>
            <a:endParaRPr lang="en-US" sz="1000" dirty="0"/>
          </a:p>
        </p:txBody>
      </p:sp>
      <p:sp>
        <p:nvSpPr>
          <p:cNvPr id="1046" name="Shape 44"/>
          <p:cNvSpPr/>
          <p:nvPr/>
        </p:nvSpPr>
        <p:spPr>
          <a:xfrm>
            <a:off x="5760720" y="1874520"/>
            <a:ext cx="914400" cy="0"/>
          </a:xfrm>
          <a:prstGeom prst="line">
            <a:avLst/>
          </a:prstGeom>
          <a:noFill/>
          <a:ln w="31750">
            <a:solidFill>
              <a:srgbClr val="1F3A5F"/>
            </a:solidFill>
            <a:prstDash val="solid"/>
            <a:tailEnd type="triangle"/>
          </a:ln>
        </p:spPr>
      </p:sp>
      <p:sp>
        <p:nvSpPr>
          <p:cNvPr id="1047" name="Text 45"/>
          <p:cNvSpPr txBox="1"/>
          <p:nvPr/>
        </p:nvSpPr>
        <p:spPr>
          <a:xfrm>
            <a:off x="5760720" y="16002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Read &amp; match</a:t>
            </a:r>
            <a:endParaRPr lang="en-US" sz="1000" dirty="0"/>
          </a:p>
        </p:txBody>
      </p:sp>
      <p:sp>
        <p:nvSpPr>
          <p:cNvPr id="1048" name="Shape 46"/>
          <p:cNvSpPr/>
          <p:nvPr/>
        </p:nvSpPr>
        <p:spPr>
          <a:xfrm>
            <a:off x="2011680" y="3840480"/>
            <a:ext cx="822960" cy="0"/>
          </a:xfrm>
          <a:prstGeom prst="line">
            <a:avLst/>
          </a:prstGeom>
          <a:noFill/>
          <a:ln w="31750">
            <a:solidFill>
              <a:srgbClr val="0E7C66"/>
            </a:solidFill>
            <a:prstDash val="solid"/>
            <a:headEnd type="triangle"/>
          </a:ln>
        </p:spPr>
      </p:sp>
      <p:sp>
        <p:nvSpPr>
          <p:cNvPr id="1049" name="Text 47"/>
          <p:cNvSpPr txBox="1"/>
          <p:nvPr/>
        </p:nvSpPr>
        <p:spPr>
          <a:xfrm>
            <a:off x="2011680" y="390448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Publish pass / fail</a:t>
            </a:r>
            <a:endParaRPr lang="en-US" sz="1000" dirty="0"/>
          </a:p>
        </p:txBody>
      </p:sp>
      <p:sp>
        <p:nvSpPr>
          <p:cNvPr id="1050" name="Text 48"/>
          <p:cNvSpPr txBox="1"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Pattern: one shared spreadsheet for all test cases — each ADO test stays a thin wrapper that locates its own row.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ADO Test Case Creator</dc:title>
  <dc:subject>PptxGenJS Presentation</dc:subject>
  <dc:creator>Two Lines Technology</dc:creator>
  <cp:lastModifiedBy>Two Lines Technology</cp:lastModifiedBy>
  <cp:revision>1</cp:revision>
  <dcterms:created xsi:type="dcterms:W3CDTF">2026-05-19T02:14:07Z</dcterms:created>
  <dcterms:modified xsi:type="dcterms:W3CDTF">2026-05-19T02:14:07Z</dcterms:modified>
</cp:coreProperties>
</file>