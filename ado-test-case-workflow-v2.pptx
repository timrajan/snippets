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Azure DevOps Test Case Creator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5B6E"/>
                </a:solidFill>
                <a:latin typeface="Calibri"/>
              </a:rPr>
              <a:t>Spreadsheet-driven workflow — create new test cases, skip existing 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</a:rPr>
              <a:t>Spreadsheet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500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55B6E"/>
                </a:solidFill>
                <a:latin typeface="Calibri"/>
              </a:rPr>
              <a:t>.xlsx with test names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9164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192024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TypeScript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3500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CADCFC"/>
                </a:solidFill>
                <a:latin typeface="Calibri"/>
              </a:rPr>
              <a:t>iterates rows, decides per row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9164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92024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</a:rPr>
              <a:t>Azure DevOps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500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55B6E"/>
                </a:solidFill>
                <a:latin typeface="Calibri"/>
              </a:rPr>
              <a:t>work item REST 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94760" y="2240280"/>
            <a:ext cx="411480" cy="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06640" y="2240280"/>
            <a:ext cx="411480" cy="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310896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08960"/>
            <a:ext cx="109728" cy="10515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73552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92400E"/>
                </a:solidFill>
                <a:latin typeface="Calibri"/>
              </a:rPr>
              <a:t>If Test Case ID is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Skip the row — no ADO call, the existing ID is kept as-is.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10896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3108960"/>
            <a:ext cx="109728" cy="1051560"/>
          </a:xfrm>
          <a:prstGeom prst="rect">
            <a:avLst/>
          </a:prstGeom>
          <a:solidFill>
            <a:srgbClr val="05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273552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56F4D"/>
                </a:solidFill>
                <a:latin typeface="Calibri"/>
              </a:rPr>
              <a:t>If Test Case ID is empty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675888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Create the test case in ADO, then write the new ID back to the row.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Sample run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4800600"/>
          <a:ext cx="10927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434840"/>
                <a:gridCol w="2468880"/>
                <a:gridCol w="347472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1A2E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1A2E"/>
                          </a:solidFill>
                          <a:latin typeface="Calibri"/>
                        </a:rPr>
                        <a:t>Test name</a:t>
                      </a:r>
                    </a:p>
                  </a:txBody>
                  <a:tcPr marL="91440" marR="91440" marT="45720" marB="4572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1A2E"/>
                          </a:solidFill>
                          <a:latin typeface="Calibri"/>
                        </a:rPr>
                        <a:t>Test Case ID</a:t>
                      </a:r>
                    </a:p>
                  </a:txBody>
                  <a:tcPr marL="91440" marR="91440" marT="45720" marB="4572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A1A2E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Login with valid credentials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TC-1001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2400E"/>
                          </a:solidFill>
                          <a:latin typeface="Calibri"/>
                        </a:rPr>
                        <a:t>Skip — already exists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Login with invalid credentials</a:t>
                      </a:r>
                    </a:p>
                  </a:txBody>
                  <a:tcPr marL="91440" marR="91440" marT="36576" marB="36576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6F4D"/>
                          </a:solidFill>
                          <a:latin typeface="Calibri"/>
                        </a:rPr>
                        <a:t>TC-1042 (new)</a:t>
                      </a:r>
                    </a:p>
                  </a:txBody>
                  <a:tcPr marL="91440" marR="91440" marT="36576" marB="36576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6F4D"/>
                          </a:solidFill>
                          <a:latin typeface="Calibri"/>
                        </a:rPr>
                        <a:t>Created in ADO</a:t>
                      </a:r>
                    </a:p>
                  </a:txBody>
                  <a:tcPr marL="91440" marR="91440" marT="36576" marB="36576">
                    <a:solidFill>
                      <a:srgbClr val="D1F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Logout from dashboard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TC-1019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2400E"/>
                          </a:solidFill>
                          <a:latin typeface="Calibri"/>
                        </a:rPr>
                        <a:t>Skip — already exists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36576" marB="36576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Password reset flow</a:t>
                      </a:r>
                    </a:p>
                  </a:txBody>
                  <a:tcPr marL="91440" marR="91440" marT="36576" marB="36576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6F4D"/>
                          </a:solidFill>
                          <a:latin typeface="Calibri"/>
                        </a:rPr>
                        <a:t>TC-1043 (new)</a:t>
                      </a:r>
                    </a:p>
                  </a:txBody>
                  <a:tcPr marL="91440" marR="91440" marT="36576" marB="36576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6F4D"/>
                          </a:solidFill>
                          <a:latin typeface="Calibri"/>
                        </a:rPr>
                        <a:t>Created in ADO</a:t>
                      </a:r>
                    </a:p>
                  </a:txBody>
                  <a:tcPr marL="91440" marR="91440" marT="36576" marB="36576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Test Execution &amp; Result Publishing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55B6E"/>
                </a:solidFill>
                <a:latin typeface="Calibri"/>
              </a:rPr>
              <a:t>One shared spreadsheet — each ADO test self-selects its row by matching ADO 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8288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2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56232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555B6E"/>
                </a:solidFill>
                <a:latin typeface="Calibri"/>
              </a:rP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Azure 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Pipeline triggers a single test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91640"/>
            <a:ext cx="3931920" cy="13258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82880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856232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85623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Read &amp;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Puppeteer test (TypeScript)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060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Finds its row where ADO ID = TC-1042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69164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0" y="18288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856232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856232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555B6E"/>
                </a:solidFill>
                <a:latin typeface="Calibri"/>
              </a:rPr>
              <a:t>Publish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2860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Calibri"/>
              </a:rPr>
              <a:t>Pass / 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60604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Result published back to ADO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50208" y="2354580"/>
            <a:ext cx="283464" cy="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02168" y="2354580"/>
            <a:ext cx="283464" cy="0"/>
          </a:xfrm>
          <a:prstGeom prst="bentConnector3">
            <a:avLst/>
          </a:prstGeom>
          <a:ln w="31750">
            <a:solidFill>
              <a:srgbClr val="1E276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33375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Inside the test: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84048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4164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2628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Read the spreadsheet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384048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57600" y="40233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04164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52628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Loop rows; find one where the 'ADO ID' column = TC-1042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84048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92240" y="40233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04164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52628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Run that row's Puppeteer steps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84048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26880" y="40233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404164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52628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Exit and report pass / 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126480"/>
            <a:ext cx="10927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5B6E"/>
                </a:solidFill>
                <a:latin typeface="Calibri"/>
              </a:rPr>
              <a:t>Pattern: one shared spreadsheet for all test cases — each ADO test stays a thin wrapper that locates its own 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