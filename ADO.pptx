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2000"/>
  <p:notesSz cx="6858000" cy="9144000"/>
  <p:embeddedFontLst>
    <p:embeddedFont>
      <p:font typeface="Arim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53CE59-6ADF-4805-A130-614D8EE97CC0}">
  <a:tblStyle styleId="{BB53CE59-6ADF-4805-A130-614D8EE97C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rimo-bold.fntdata"/><Relationship Id="rId10" Type="http://schemas.openxmlformats.org/officeDocument/2006/relationships/font" Target="fonts/Arimo-regular.fntdata"/><Relationship Id="rId13" Type="http://schemas.openxmlformats.org/officeDocument/2006/relationships/font" Target="fonts/Arimo-boldItalic.fntdata"/><Relationship Id="rId12" Type="http://schemas.openxmlformats.org/officeDocument/2006/relationships/font" Target="fonts/Arim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11" Type="http://schemas.openxmlformats.org/officeDocument/2006/relationships/image" Target="../media/image11.png"/><Relationship Id="rId10" Type="http://schemas.openxmlformats.org/officeDocument/2006/relationships/image" Target="../media/image17.png"/><Relationship Id="rId12" Type="http://schemas.openxmlformats.org/officeDocument/2006/relationships/image" Target="../media/image5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87735"/>
            <a:ext cx="32004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0" y="1887735"/>
            <a:ext cx="32004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1887735"/>
            <a:ext cx="32004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92735"/>
            <a:ext cx="5191125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792735"/>
            <a:ext cx="5191125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762000" y="571500"/>
            <a:ext cx="112014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761"/>
                </a:solidFill>
                <a:latin typeface="Arimo"/>
                <a:ea typeface="Arimo"/>
                <a:cs typeface="Arimo"/>
                <a:sym typeface="Arimo"/>
              </a:rPr>
              <a:t>Azure DevOps Test Case Creator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1259085"/>
            <a:ext cx="1066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Spreadsheet-driven workflow — create new test cases, skip existing ones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152900" y="2583060"/>
            <a:ext cx="152400" cy="38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886700" y="2583060"/>
            <a:ext cx="152400" cy="381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24075" y="202584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633515" y="2597348"/>
            <a:ext cx="145736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Spreadsheet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643062" y="2978348"/>
            <a:ext cx="1438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.xlsx with test names</a:t>
            </a:r>
            <a:endParaRPr/>
          </a:p>
        </p:txBody>
      </p:sp>
      <p:pic>
        <p:nvPicPr>
          <p:cNvPr descr="image.png" id="96" name="Google Shape;9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29312" y="207347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5060092" y="2549723"/>
            <a:ext cx="20716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TypeScript script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074741" y="2930723"/>
            <a:ext cx="2042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iterates rows, decides per row</a:t>
            </a:r>
            <a:endParaRPr/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400" y="2144910"/>
            <a:ext cx="482649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8957347" y="2478285"/>
            <a:ext cx="174490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Azure DevOps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9095482" y="2859285"/>
            <a:ext cx="146863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item REST API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762000" y="3792735"/>
            <a:ext cx="142875" cy="123825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6238875" y="3792735"/>
            <a:ext cx="138707" cy="1238250"/>
          </a:xfrm>
          <a:prstGeom prst="rect">
            <a:avLst/>
          </a:prstGeom>
          <a:solidFill>
            <a:srgbClr val="056F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190625" y="4121348"/>
            <a:ext cx="470058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9240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Test Case ID is present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190625" y="4445198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Skip the row — no ADO call, the existing ID is kept as-is.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663332" y="3992760"/>
            <a:ext cx="470496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56F4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Test Case ID is empty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6663332" y="4316610"/>
            <a:ext cx="4480917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A1A2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the test case in ADO, then write the new ID back to the row.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/>
        </p:nvSpPr>
        <p:spPr>
          <a:xfrm>
            <a:off x="762000" y="571500"/>
            <a:ext cx="112014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761"/>
                </a:solidFill>
                <a:latin typeface="Arimo"/>
                <a:ea typeface="Arimo"/>
                <a:cs typeface="Arimo"/>
                <a:sym typeface="Arimo"/>
              </a:rPr>
              <a:t>Sample Run: Action Log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62000" y="1259085"/>
            <a:ext cx="1066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status updates written back to the shared source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904875" y="1887735"/>
            <a:ext cx="1105138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Logs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762000" y="1887735"/>
            <a:ext cx="47625" cy="24765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14"/>
          <p:cNvGraphicFramePr/>
          <p:nvPr/>
        </p:nvGraphicFramePr>
        <p:xfrm>
          <a:off x="762000" y="22782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{BB53CE59-6ADF-4805-A130-614D8EE97CC0}</a:tableStyleId>
              </a:tblPr>
              <a:tblGrid>
                <a:gridCol w="762000"/>
                <a:gridCol w="3714750"/>
                <a:gridCol w="2857500"/>
                <a:gridCol w="3333750"/>
              </a:tblGrid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Case 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 Result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with valid credentials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TC-1001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2400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Skip — already exists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Login with invalid credentials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56F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TC-1042 (new)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56F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Created in 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Logout from dashboard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TC-1019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2400E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Skip — already exists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Password reset flow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56F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TC-1043 (new)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56F4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Created in 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14"/>
          <p:cNvSpPr/>
          <p:nvPr/>
        </p:nvSpPr>
        <p:spPr>
          <a:xfrm>
            <a:off x="762000" y="2811660"/>
            <a:ext cx="7620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1524000" y="2811660"/>
            <a:ext cx="371475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5238750" y="2811660"/>
            <a:ext cx="28575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096250" y="2811660"/>
            <a:ext cx="333375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762000" y="3330773"/>
            <a:ext cx="762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1524000" y="3330773"/>
            <a:ext cx="3714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5238750" y="3330773"/>
            <a:ext cx="2857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8096250" y="3330773"/>
            <a:ext cx="3333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762000" y="3835598"/>
            <a:ext cx="762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1524000" y="3835598"/>
            <a:ext cx="3714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5238750" y="3835598"/>
            <a:ext cx="2857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8096250" y="3835598"/>
            <a:ext cx="3333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62000" y="4340423"/>
            <a:ext cx="762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1524000" y="4340423"/>
            <a:ext cx="3714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5238750" y="4340423"/>
            <a:ext cx="2857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8096250" y="4340423"/>
            <a:ext cx="3333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62000" y="4845248"/>
            <a:ext cx="762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1524000" y="4845248"/>
            <a:ext cx="3714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5238750" y="4845248"/>
            <a:ext cx="28575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096250" y="4845248"/>
            <a:ext cx="333375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887735"/>
            <a:ext cx="312926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2260" y="1887735"/>
            <a:ext cx="364747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0739" y="1887735"/>
            <a:ext cx="312926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64235"/>
            <a:ext cx="106680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2317" y="2059185"/>
            <a:ext cx="4286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1687" y="2059185"/>
            <a:ext cx="4286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51057" y="2059185"/>
            <a:ext cx="4286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762000" y="571500"/>
            <a:ext cx="1120140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1E2761"/>
                </a:solidFill>
                <a:latin typeface="Arimo"/>
                <a:ea typeface="Arimo"/>
                <a:cs typeface="Arimo"/>
                <a:sym typeface="Arimo"/>
              </a:rPr>
              <a:t>Test Execution &amp; Result Publishing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62000" y="1259085"/>
            <a:ext cx="1066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self-selection via unique ADO ID matching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59942" y="242113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1878140" y="2849760"/>
            <a:ext cx="89683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495573" y="3230760"/>
            <a:ext cx="16619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ADO Pipeline starts test</a:t>
            </a:r>
            <a:endParaRPr/>
          </a:p>
        </p:txBody>
      </p:sp>
      <p:pic>
        <p:nvPicPr>
          <p:cNvPr descr="image.png" id="153" name="Google Shape;15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6450" y="2421135"/>
            <a:ext cx="4191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5209330" y="2849760"/>
            <a:ext cx="177319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&amp; Match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5318968" y="3230760"/>
            <a:ext cx="15540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ADC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Lookup row by TC-ID</a:t>
            </a:r>
            <a:endParaRPr/>
          </a:p>
        </p:txBody>
      </p:sp>
      <p:pic>
        <p:nvPicPr>
          <p:cNvPr descr="image.png" id="156" name="Google Shape;15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17732" y="2421135"/>
            <a:ext cx="295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5"/>
          <p:cNvSpPr txBox="1"/>
          <p:nvPr/>
        </p:nvSpPr>
        <p:spPr>
          <a:xfrm>
            <a:off x="9413907" y="2849760"/>
            <a:ext cx="902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Publish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8910488" y="3230760"/>
            <a:ext cx="19097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ADO with Pass/Fail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1000125" y="4869060"/>
            <a:ext cx="97884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Pattern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000125" y="5183385"/>
            <a:ext cx="835878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55B6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shared spreadsheet for all test cases — each ADO test stays a thin wrapper that locates its own data row dynamically.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